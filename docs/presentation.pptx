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2463"/>
        </a:solidFill>
        <a:effectLst/>
      </p:bgPr>
    </p:bg>
    <p:spTree>
      <p:nvGrpSpPr>
        <p:cNvPr id="1" name=""/>
        <p:cNvGrpSpPr/>
        <p:nvPr/>
      </p:nvGrpSpPr>
      <p:grpSpPr/>
      <p:sp>
        <p:nvSpPr>
          <p:cNvPr id="2" name="TextBox 1"/>
          <p:cNvSpPr txBox="1"/>
          <p:nvPr/>
        </p:nvSpPr>
        <p:spPr>
          <a:xfrm>
            <a:off x="914400" y="1645920"/>
            <a:ext cx="10332720" cy="1280160"/>
          </a:xfrm>
          <a:prstGeom prst="rect">
            <a:avLst/>
          </a:prstGeom>
          <a:noFill/>
        </p:spPr>
        <p:txBody>
          <a:bodyPr wrap="square">
            <a:spAutoFit/>
          </a:bodyPr>
          <a:lstStyle/>
          <a:p>
            <a:pPr algn="ctr">
              <a:defRPr sz="4800" b="1" i="0">
                <a:solidFill>
                  <a:srgbClr val="FFFFFF"/>
                </a:solidFill>
                <a:latin typeface="Segoe UI"/>
              </a:defRPr>
            </a:pPr>
            <a:r>
              <a:t>NC Governor's</a:t>
            </a:r>
            <a:br/>
            <a:r>
              <a:t>Communications Agent</a:t>
            </a:r>
          </a:p>
        </p:txBody>
      </p:sp>
      <p:sp>
        <p:nvSpPr>
          <p:cNvPr id="3" name="TextBox 2"/>
          <p:cNvSpPr txBox="1"/>
          <p:nvPr/>
        </p:nvSpPr>
        <p:spPr>
          <a:xfrm>
            <a:off x="1371600" y="3200400"/>
            <a:ext cx="9418320" cy="731520"/>
          </a:xfrm>
          <a:prstGeom prst="rect">
            <a:avLst/>
          </a:prstGeom>
          <a:noFill/>
        </p:spPr>
        <p:txBody>
          <a:bodyPr wrap="square">
            <a:spAutoFit/>
          </a:bodyPr>
          <a:lstStyle/>
          <a:p>
            <a:pPr algn="ctr">
              <a:defRPr sz="2200" b="0" i="0">
                <a:solidFill>
                  <a:srgbClr val="BBCCFF"/>
                </a:solidFill>
                <a:latin typeface="Segoe UI"/>
              </a:defRPr>
            </a:pPr>
            <a:r>
              <a:t>AI-powered news monitoring, remarks search, and transcript proofreading</a:t>
            </a:r>
            <a:br/>
            <a:r>
              <a:t>for the Governor's Communications Office</a:t>
            </a:r>
          </a:p>
        </p:txBody>
      </p:sp>
      <p:sp>
        <p:nvSpPr>
          <p:cNvPr id="4" name="TextBox 3"/>
          <p:cNvSpPr txBox="1"/>
          <p:nvPr/>
        </p:nvSpPr>
        <p:spPr>
          <a:xfrm>
            <a:off x="914400" y="4297680"/>
            <a:ext cx="10332720" cy="365760"/>
          </a:xfrm>
          <a:prstGeom prst="rect">
            <a:avLst/>
          </a:prstGeom>
          <a:noFill/>
        </p:spPr>
        <p:txBody>
          <a:bodyPr wrap="square">
            <a:spAutoFit/>
          </a:bodyPr>
          <a:lstStyle/>
          <a:p>
            <a:pPr algn="ctr">
              <a:defRPr sz="1400" b="0" i="0">
                <a:solidFill>
                  <a:srgbClr val="8899BB"/>
                </a:solidFill>
                <a:latin typeface="Segoe UI"/>
              </a:defRPr>
            </a:pPr>
            <a:r>
              <a:t>NC DIT AI Office  ·  Microsoft Azure  ·  Copilot Studio</a:t>
            </a:r>
          </a:p>
        </p:txBody>
      </p:sp>
      <p:sp>
        <p:nvSpPr>
          <p:cNvPr id="5" name="TextBox 4"/>
          <p:cNvSpPr txBox="1"/>
          <p:nvPr/>
        </p:nvSpPr>
        <p:spPr>
          <a:xfrm>
            <a:off x="914400" y="4846320"/>
            <a:ext cx="10332720" cy="365760"/>
          </a:xfrm>
          <a:prstGeom prst="rect">
            <a:avLst/>
          </a:prstGeom>
          <a:noFill/>
        </p:spPr>
        <p:txBody>
          <a:bodyPr wrap="square">
            <a:spAutoFit/>
          </a:bodyPr>
          <a:lstStyle/>
          <a:p>
            <a:pPr algn="ctr">
              <a:defRPr sz="1400" b="0" i="0">
                <a:solidFill>
                  <a:srgbClr val="7788AA"/>
                </a:solidFill>
                <a:latin typeface="Segoe UI"/>
              </a:defRPr>
            </a:pPr>
            <a:r>
              <a:t>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9144000" cy="640080"/>
          </a:xfrm>
          <a:prstGeom prst="rect">
            <a:avLst/>
          </a:prstGeom>
          <a:noFill/>
        </p:spPr>
        <p:txBody>
          <a:bodyPr wrap="square">
            <a:spAutoFit/>
          </a:bodyPr>
          <a:lstStyle/>
          <a:p>
            <a:pPr algn="l">
              <a:defRPr sz="3400" b="1" i="0">
                <a:solidFill>
                  <a:srgbClr val="0A2463"/>
                </a:solidFill>
                <a:latin typeface="Segoe UI"/>
              </a:defRPr>
            </a:pPr>
            <a:r>
              <a:t>What the Comms Office Asked For</a:t>
            </a:r>
          </a:p>
        </p:txBody>
      </p:sp>
      <p:sp>
        <p:nvSpPr>
          <p:cNvPr id="3" name="Rounded Rectangle 2"/>
          <p:cNvSpPr/>
          <p:nvPr/>
        </p:nvSpPr>
        <p:spPr>
          <a:xfrm>
            <a:off x="548640" y="1188720"/>
            <a:ext cx="11064240" cy="1371600"/>
          </a:xfrm>
          <a:prstGeom prst="roundRect">
            <a:avLst>
              <a:gd name="adj" fmla="val 5000"/>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188720"/>
            <a:ext cx="73152" cy="1371600"/>
          </a:xfrm>
          <a:prstGeom prst="rect">
            <a:avLst/>
          </a:prstGeom>
          <a:solidFill>
            <a:srgbClr val="0A24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280160"/>
            <a:ext cx="10058400" cy="274320"/>
          </a:xfrm>
          <a:prstGeom prst="rect">
            <a:avLst/>
          </a:prstGeom>
          <a:noFill/>
        </p:spPr>
        <p:txBody>
          <a:bodyPr wrap="square">
            <a:spAutoFit/>
          </a:bodyPr>
          <a:lstStyle/>
          <a:p>
            <a:pPr algn="l">
              <a:defRPr sz="1100" b="1" i="0">
                <a:solidFill>
                  <a:srgbClr val="0A2463"/>
                </a:solidFill>
                <a:latin typeface="Segoe UI"/>
              </a:defRPr>
            </a:pPr>
            <a:r>
              <a:t>REQUEST 1 — NEWS CLIPS</a:t>
            </a:r>
          </a:p>
        </p:txBody>
      </p:sp>
      <p:sp>
        <p:nvSpPr>
          <p:cNvPr id="6" name="TextBox 5"/>
          <p:cNvSpPr txBox="1"/>
          <p:nvPr/>
        </p:nvSpPr>
        <p:spPr>
          <a:xfrm>
            <a:off x="868680" y="1554480"/>
            <a:ext cx="10515600" cy="822960"/>
          </a:xfrm>
          <a:prstGeom prst="rect">
            <a:avLst/>
          </a:prstGeom>
          <a:noFill/>
        </p:spPr>
        <p:txBody>
          <a:bodyPr wrap="square">
            <a:spAutoFit/>
          </a:bodyPr>
          <a:lstStyle/>
          <a:p>
            <a:pPr algn="l">
              <a:defRPr sz="1600" b="0" i="1">
                <a:solidFill>
                  <a:srgbClr val="333333"/>
                </a:solidFill>
                <a:latin typeface="Segoe UI"/>
              </a:defRPr>
            </a:pPr>
            <a:r>
              <a:t>“How could we automate the process of identifying mentions of Governor Stein in the news and collecting the outlet, title, first paragraph, and first mention of Governor Stein in the article?”</a:t>
            </a:r>
          </a:p>
        </p:txBody>
      </p:sp>
      <p:sp>
        <p:nvSpPr>
          <p:cNvPr id="7" name="Rounded Rectangle 6"/>
          <p:cNvSpPr/>
          <p:nvPr/>
        </p:nvSpPr>
        <p:spPr>
          <a:xfrm>
            <a:off x="548640" y="2743200"/>
            <a:ext cx="11064240" cy="1005840"/>
          </a:xfrm>
          <a:prstGeom prst="roundRect">
            <a:avLst>
              <a:gd name="adj" fmla="val 5000"/>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743200"/>
            <a:ext cx="73152" cy="1005840"/>
          </a:xfrm>
          <a:prstGeom prst="rect">
            <a:avLst/>
          </a:prstGeom>
          <a:solidFill>
            <a:srgbClr val="0A24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834640"/>
            <a:ext cx="10058400" cy="274320"/>
          </a:xfrm>
          <a:prstGeom prst="rect">
            <a:avLst/>
          </a:prstGeom>
          <a:noFill/>
        </p:spPr>
        <p:txBody>
          <a:bodyPr wrap="square">
            <a:spAutoFit/>
          </a:bodyPr>
          <a:lstStyle/>
          <a:p>
            <a:pPr algn="l">
              <a:defRPr sz="1100" b="1" i="0">
                <a:solidFill>
                  <a:srgbClr val="0A2463"/>
                </a:solidFill>
                <a:latin typeface="Segoe UI"/>
              </a:defRPr>
            </a:pPr>
            <a:r>
              <a:t>REQUEST 2 — PROOFREADING</a:t>
            </a:r>
          </a:p>
        </p:txBody>
      </p:sp>
      <p:sp>
        <p:nvSpPr>
          <p:cNvPr id="10" name="TextBox 9"/>
          <p:cNvSpPr txBox="1"/>
          <p:nvPr/>
        </p:nvSpPr>
        <p:spPr>
          <a:xfrm>
            <a:off x="868680" y="3108960"/>
            <a:ext cx="10515600" cy="548640"/>
          </a:xfrm>
          <a:prstGeom prst="rect">
            <a:avLst/>
          </a:prstGeom>
          <a:noFill/>
        </p:spPr>
        <p:txBody>
          <a:bodyPr wrap="square">
            <a:spAutoFit/>
          </a:bodyPr>
          <a:lstStyle/>
          <a:p>
            <a:pPr algn="l">
              <a:defRPr sz="1600" b="0" i="1">
                <a:solidFill>
                  <a:srgbClr val="333333"/>
                </a:solidFill>
                <a:latin typeface="Segoe UI"/>
              </a:defRPr>
            </a:pPr>
            <a:r>
              <a:t>“Is there a way to use AI for proofreading of faulty transcripts?”</a:t>
            </a:r>
          </a:p>
        </p:txBody>
      </p:sp>
      <p:sp>
        <p:nvSpPr>
          <p:cNvPr id="11" name="Rounded Rectangle 10"/>
          <p:cNvSpPr/>
          <p:nvPr/>
        </p:nvSpPr>
        <p:spPr>
          <a:xfrm>
            <a:off x="548640" y="3931920"/>
            <a:ext cx="11064240" cy="1371600"/>
          </a:xfrm>
          <a:prstGeom prst="roundRect">
            <a:avLst>
              <a:gd name="adj" fmla="val 5000"/>
            </a:avLst>
          </a:prstGeom>
          <a:solidFill>
            <a:srgbClr val="F0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931920"/>
            <a:ext cx="73152" cy="1371600"/>
          </a:xfrm>
          <a:prstGeom prst="rect">
            <a:avLst/>
          </a:prstGeom>
          <a:solidFill>
            <a:srgbClr val="0A24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023360"/>
            <a:ext cx="10058400" cy="274320"/>
          </a:xfrm>
          <a:prstGeom prst="rect">
            <a:avLst/>
          </a:prstGeom>
          <a:noFill/>
        </p:spPr>
        <p:txBody>
          <a:bodyPr wrap="square">
            <a:spAutoFit/>
          </a:bodyPr>
          <a:lstStyle/>
          <a:p>
            <a:pPr algn="l">
              <a:defRPr sz="1100" b="1" i="0">
                <a:solidFill>
                  <a:srgbClr val="0A2463"/>
                </a:solidFill>
                <a:latin typeface="Segoe UI"/>
              </a:defRPr>
            </a:pPr>
            <a:r>
              <a:t>REQUEST 3 — REMARKS</a:t>
            </a:r>
          </a:p>
        </p:txBody>
      </p:sp>
      <p:sp>
        <p:nvSpPr>
          <p:cNvPr id="14" name="TextBox 13"/>
          <p:cNvSpPr txBox="1"/>
          <p:nvPr/>
        </p:nvSpPr>
        <p:spPr>
          <a:xfrm>
            <a:off x="868680" y="4297680"/>
            <a:ext cx="10515600" cy="822960"/>
          </a:xfrm>
          <a:prstGeom prst="rect">
            <a:avLst/>
          </a:prstGeom>
          <a:noFill/>
        </p:spPr>
        <p:txBody>
          <a:bodyPr wrap="square">
            <a:spAutoFit/>
          </a:bodyPr>
          <a:lstStyle/>
          <a:p>
            <a:pPr algn="l">
              <a:defRPr sz="1600" b="0" i="1">
                <a:solidFill>
                  <a:srgbClr val="333333"/>
                </a:solidFill>
                <a:latin typeface="Segoe UI"/>
              </a:defRPr>
            </a:pPr>
            <a:r>
              <a:t>“How could we create a useful search + retrieval function for existing language on a given topic? For example, what is the language we’ve used to talk about clean tech across a variety of remarks?”</a:t>
            </a:r>
          </a:p>
        </p:txBody>
      </p:sp>
      <p:sp>
        <p:nvSpPr>
          <p:cNvPr id="15" name="Rounded Rectangle 14"/>
          <p:cNvSpPr/>
          <p:nvPr/>
        </p:nvSpPr>
        <p:spPr>
          <a:xfrm>
            <a:off x="548640" y="5669280"/>
            <a:ext cx="6858000" cy="640080"/>
          </a:xfrm>
          <a:prstGeom prst="roundRect">
            <a:avLst>
              <a:gd name="adj" fmla="val 5000"/>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715000"/>
            <a:ext cx="6492240" cy="548640"/>
          </a:xfrm>
          <a:prstGeom prst="rect">
            <a:avLst/>
          </a:prstGeom>
          <a:noFill/>
        </p:spPr>
        <p:txBody>
          <a:bodyPr wrap="square">
            <a:spAutoFit/>
          </a:bodyPr>
          <a:lstStyle/>
          <a:p>
            <a:pPr algn="l">
              <a:defRPr sz="1800" b="1" i="0">
                <a:solidFill>
                  <a:srgbClr val="FFFFFF"/>
                </a:solidFill>
                <a:latin typeface="Segoe UI"/>
              </a:defRPr>
            </a:pPr>
            <a:r>
              <a:t>✓  All three capabilities — built, deployed, and live in Teams</a:t>
            </a:r>
          </a:p>
        </p:txBody>
      </p:sp>
      <p:sp>
        <p:nvSpPr>
          <p:cNvPr id="17" name="TextBox 16"/>
          <p:cNvSpPr txBox="1"/>
          <p:nvPr/>
        </p:nvSpPr>
        <p:spPr>
          <a:xfrm>
            <a:off x="548640" y="6446520"/>
            <a:ext cx="4572000" cy="274320"/>
          </a:xfrm>
          <a:prstGeom prst="rect">
            <a:avLst/>
          </a:prstGeom>
          <a:noFill/>
        </p:spPr>
        <p:txBody>
          <a:bodyPr wrap="square">
            <a:spAutoFit/>
          </a:bodyPr>
          <a:lstStyle/>
          <a:p>
            <a:pPr algn="l">
              <a:defRPr sz="900" b="0" i="0">
                <a:solidFill>
                  <a:srgbClr val="BBBBBB"/>
                </a:solidFill>
                <a:latin typeface="Segoe UI"/>
              </a:defRPr>
            </a:pPr>
            <a:r>
              <a:t>NC DIT AI Office</a:t>
            </a:r>
          </a:p>
        </p:txBody>
      </p:sp>
      <p:sp>
        <p:nvSpPr>
          <p:cNvPr id="18" name="TextBox 17"/>
          <p:cNvSpPr txBox="1"/>
          <p:nvPr/>
        </p:nvSpPr>
        <p:spPr>
          <a:xfrm>
            <a:off x="6858000" y="6446520"/>
            <a:ext cx="4572000" cy="274320"/>
          </a:xfrm>
          <a:prstGeom prst="rect">
            <a:avLst/>
          </a:prstGeom>
          <a:noFill/>
        </p:spPr>
        <p:txBody>
          <a:bodyPr wrap="square">
            <a:spAutoFit/>
          </a:bodyPr>
          <a:lstStyle/>
          <a:p>
            <a:pPr algn="r">
              <a:defRPr sz="900" b="0" i="0">
                <a:solidFill>
                  <a:srgbClr val="BBBBBB"/>
                </a:solidFill>
                <a:latin typeface="Segoe UI"/>
              </a:defRPr>
            </a:pPr>
            <a:r>
              <a:t>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457200"/>
          </a:xfrm>
          <a:prstGeom prst="rect">
            <a:avLst/>
          </a:prstGeom>
          <a:noFill/>
        </p:spPr>
        <p:txBody>
          <a:bodyPr wrap="square">
            <a:spAutoFit/>
          </a:bodyPr>
          <a:lstStyle/>
          <a:p>
            <a:pPr algn="l">
              <a:defRPr sz="3200" b="1" i="0">
                <a:solidFill>
                  <a:srgbClr val="FFFFFF"/>
                </a:solidFill>
                <a:latin typeface="Segoe UI"/>
              </a:defRPr>
            </a:pPr>
            <a:r>
              <a:t>News Clips</a:t>
            </a:r>
          </a:p>
        </p:txBody>
      </p:sp>
      <p:sp>
        <p:nvSpPr>
          <p:cNvPr id="4" name="TextBox 3"/>
          <p:cNvSpPr txBox="1"/>
          <p:nvPr/>
        </p:nvSpPr>
        <p:spPr>
          <a:xfrm>
            <a:off x="548640" y="594360"/>
            <a:ext cx="10058400" cy="365760"/>
          </a:xfrm>
          <a:prstGeom prst="rect">
            <a:avLst/>
          </a:prstGeom>
          <a:noFill/>
        </p:spPr>
        <p:txBody>
          <a:bodyPr wrap="square">
            <a:spAutoFit/>
          </a:bodyPr>
          <a:lstStyle/>
          <a:p>
            <a:pPr algn="l">
              <a:defRPr sz="1500" b="0" i="0">
                <a:solidFill>
                  <a:srgbClr val="DDEEFF"/>
                </a:solidFill>
                <a:latin typeface="Segoe UI"/>
              </a:defRPr>
            </a:pPr>
            <a:r>
              <a:t>Automatically collects Governor press releases, then lets staff search or browse them instantly.</a:t>
            </a:r>
          </a:p>
        </p:txBody>
      </p:sp>
      <p:sp>
        <p:nvSpPr>
          <p:cNvPr id="5" name="TextBox 4"/>
          <p:cNvSpPr txBox="1"/>
          <p:nvPr/>
        </p:nvSpPr>
        <p:spPr>
          <a:xfrm>
            <a:off x="548640" y="1325880"/>
            <a:ext cx="9144000" cy="274320"/>
          </a:xfrm>
          <a:prstGeom prst="rect">
            <a:avLst/>
          </a:prstGeom>
          <a:noFill/>
        </p:spPr>
        <p:txBody>
          <a:bodyPr wrap="square">
            <a:spAutoFit/>
          </a:bodyPr>
          <a:lstStyle/>
          <a:p>
            <a:pPr algn="l">
              <a:defRPr sz="1000" b="1" i="0">
                <a:solidFill>
                  <a:srgbClr val="888888"/>
                </a:solidFill>
                <a:latin typeface="Segoe UI"/>
              </a:defRPr>
            </a:pPr>
            <a:r>
              <a:t>HOW DATA GETS IN — RUNS DAILY AT 7 AM</a:t>
            </a:r>
          </a:p>
        </p:txBody>
      </p:sp>
      <p:sp>
        <p:nvSpPr>
          <p:cNvPr id="6" name="Rounded Rectangle 5"/>
          <p:cNvSpPr/>
          <p:nvPr/>
        </p:nvSpPr>
        <p:spPr>
          <a:xfrm>
            <a:off x="548640" y="169164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988820" y="1801368"/>
            <a:ext cx="320040" cy="3200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1</a:t>
            </a:r>
          </a:p>
        </p:txBody>
      </p:sp>
      <p:sp>
        <p:nvSpPr>
          <p:cNvPr id="8" name="TextBox 7"/>
          <p:cNvSpPr txBox="1"/>
          <p:nvPr/>
        </p:nvSpPr>
        <p:spPr>
          <a:xfrm>
            <a:off x="685800" y="2148840"/>
            <a:ext cx="2926080" cy="274320"/>
          </a:xfrm>
          <a:prstGeom prst="rect">
            <a:avLst/>
          </a:prstGeom>
          <a:noFill/>
        </p:spPr>
        <p:txBody>
          <a:bodyPr wrap="square">
            <a:spAutoFit/>
          </a:bodyPr>
          <a:lstStyle/>
          <a:p>
            <a:pPr algn="ctr">
              <a:defRPr sz="1500" b="1" i="0">
                <a:solidFill>
                  <a:srgbClr val="1A1A1A"/>
                </a:solidFill>
                <a:latin typeface="Segoe UI"/>
              </a:defRPr>
            </a:pPr>
            <a:r>
              <a:t>Scrape</a:t>
            </a:r>
          </a:p>
        </p:txBody>
      </p:sp>
      <p:sp>
        <p:nvSpPr>
          <p:cNvPr id="9" name="TextBox 8"/>
          <p:cNvSpPr txBox="1"/>
          <p:nvPr/>
        </p:nvSpPr>
        <p:spPr>
          <a:xfrm>
            <a:off x="685800" y="2423160"/>
            <a:ext cx="2926080" cy="548640"/>
          </a:xfrm>
          <a:prstGeom prst="rect">
            <a:avLst/>
          </a:prstGeom>
          <a:noFill/>
        </p:spPr>
        <p:txBody>
          <a:bodyPr wrap="square">
            <a:spAutoFit/>
          </a:bodyPr>
          <a:lstStyle/>
          <a:p>
            <a:pPr algn="ctr">
              <a:defRPr sz="1100" b="0" i="0">
                <a:solidFill>
                  <a:srgbClr val="555555"/>
                </a:solidFill>
                <a:latin typeface="Segoe UI"/>
              </a:defRPr>
            </a:pPr>
            <a:r>
              <a:t>Azure Function fetches governor.nc.gov press releases, extracts clean text with Mozilla Readability</a:t>
            </a:r>
          </a:p>
        </p:txBody>
      </p:sp>
      <p:sp>
        <p:nvSpPr>
          <p:cNvPr id="10" name="TextBox 9"/>
          <p:cNvSpPr txBox="1"/>
          <p:nvPr/>
        </p:nvSpPr>
        <p:spPr>
          <a:xfrm>
            <a:off x="3749040" y="2194560"/>
            <a:ext cx="548640" cy="365760"/>
          </a:xfrm>
          <a:prstGeom prst="rect">
            <a:avLst/>
          </a:prstGeom>
          <a:noFill/>
        </p:spPr>
        <p:txBody>
          <a:bodyPr wrap="square">
            <a:spAutoFit/>
          </a:bodyPr>
          <a:lstStyle/>
          <a:p>
            <a:pPr algn="ctr">
              <a:defRPr sz="2600" b="0" i="0">
                <a:solidFill>
                  <a:srgbClr val="BBBBBB"/>
                </a:solidFill>
                <a:latin typeface="Segoe UI"/>
              </a:defRPr>
            </a:pPr>
            <a:r>
              <a:t>→</a:t>
            </a:r>
          </a:p>
        </p:txBody>
      </p:sp>
      <p:sp>
        <p:nvSpPr>
          <p:cNvPr id="11" name="Rounded Rectangle 10"/>
          <p:cNvSpPr/>
          <p:nvPr/>
        </p:nvSpPr>
        <p:spPr>
          <a:xfrm>
            <a:off x="4297680" y="169164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737860" y="1801368"/>
            <a:ext cx="320040" cy="3200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2</a:t>
            </a:r>
          </a:p>
        </p:txBody>
      </p:sp>
      <p:sp>
        <p:nvSpPr>
          <p:cNvPr id="13" name="TextBox 12"/>
          <p:cNvSpPr txBox="1"/>
          <p:nvPr/>
        </p:nvSpPr>
        <p:spPr>
          <a:xfrm>
            <a:off x="4434840" y="2148840"/>
            <a:ext cx="2926080" cy="274320"/>
          </a:xfrm>
          <a:prstGeom prst="rect">
            <a:avLst/>
          </a:prstGeom>
          <a:noFill/>
        </p:spPr>
        <p:txBody>
          <a:bodyPr wrap="square">
            <a:spAutoFit/>
          </a:bodyPr>
          <a:lstStyle/>
          <a:p>
            <a:pPr algn="ctr">
              <a:defRPr sz="1500" b="1" i="0">
                <a:solidFill>
                  <a:srgbClr val="1A1A1A"/>
                </a:solidFill>
                <a:latin typeface="Segoe UI"/>
              </a:defRPr>
            </a:pPr>
            <a:r>
              <a:t>Embed</a:t>
            </a:r>
          </a:p>
        </p:txBody>
      </p:sp>
      <p:sp>
        <p:nvSpPr>
          <p:cNvPr id="14" name="TextBox 13"/>
          <p:cNvSpPr txBox="1"/>
          <p:nvPr/>
        </p:nvSpPr>
        <p:spPr>
          <a:xfrm>
            <a:off x="4434840" y="2423160"/>
            <a:ext cx="2926080" cy="548640"/>
          </a:xfrm>
          <a:prstGeom prst="rect">
            <a:avLst/>
          </a:prstGeom>
          <a:noFill/>
        </p:spPr>
        <p:txBody>
          <a:bodyPr wrap="square">
            <a:spAutoFit/>
          </a:bodyPr>
          <a:lstStyle/>
          <a:p>
            <a:pPr algn="ctr">
              <a:defRPr sz="1100" b="0" i="0">
                <a:solidFill>
                  <a:srgbClr val="555555"/>
                </a:solidFill>
                <a:latin typeface="Segoe UI"/>
              </a:defRPr>
            </a:pPr>
            <a:r>
              <a:t>Azure OpenAI converts each article into a vector embedding — a numeric fingerprint of its meaning</a:t>
            </a:r>
          </a:p>
        </p:txBody>
      </p:sp>
      <p:sp>
        <p:nvSpPr>
          <p:cNvPr id="15" name="TextBox 14"/>
          <p:cNvSpPr txBox="1"/>
          <p:nvPr/>
        </p:nvSpPr>
        <p:spPr>
          <a:xfrm>
            <a:off x="7498080" y="2194560"/>
            <a:ext cx="548640" cy="365760"/>
          </a:xfrm>
          <a:prstGeom prst="rect">
            <a:avLst/>
          </a:prstGeom>
          <a:noFill/>
        </p:spPr>
        <p:txBody>
          <a:bodyPr wrap="square">
            <a:spAutoFit/>
          </a:bodyPr>
          <a:lstStyle/>
          <a:p>
            <a:pPr algn="ctr">
              <a:defRPr sz="2600" b="0" i="0">
                <a:solidFill>
                  <a:srgbClr val="BBBBBB"/>
                </a:solidFill>
                <a:latin typeface="Segoe UI"/>
              </a:defRPr>
            </a:pPr>
            <a:r>
              <a:t>→</a:t>
            </a:r>
          </a:p>
        </p:txBody>
      </p:sp>
      <p:sp>
        <p:nvSpPr>
          <p:cNvPr id="16" name="Rounded Rectangle 15"/>
          <p:cNvSpPr/>
          <p:nvPr/>
        </p:nvSpPr>
        <p:spPr>
          <a:xfrm>
            <a:off x="8046720" y="169164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86900" y="1801368"/>
            <a:ext cx="320040" cy="3200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3</a:t>
            </a:r>
          </a:p>
        </p:txBody>
      </p:sp>
      <p:sp>
        <p:nvSpPr>
          <p:cNvPr id="18" name="TextBox 17"/>
          <p:cNvSpPr txBox="1"/>
          <p:nvPr/>
        </p:nvSpPr>
        <p:spPr>
          <a:xfrm>
            <a:off x="8183880" y="2148840"/>
            <a:ext cx="2926080" cy="274320"/>
          </a:xfrm>
          <a:prstGeom prst="rect">
            <a:avLst/>
          </a:prstGeom>
          <a:noFill/>
        </p:spPr>
        <p:txBody>
          <a:bodyPr wrap="square">
            <a:spAutoFit/>
          </a:bodyPr>
          <a:lstStyle/>
          <a:p>
            <a:pPr algn="ctr">
              <a:defRPr sz="1500" b="1" i="0">
                <a:solidFill>
                  <a:srgbClr val="1A1A1A"/>
                </a:solidFill>
                <a:latin typeface="Segoe UI"/>
              </a:defRPr>
            </a:pPr>
            <a:r>
              <a:t>Store + Index</a:t>
            </a:r>
          </a:p>
        </p:txBody>
      </p:sp>
      <p:sp>
        <p:nvSpPr>
          <p:cNvPr id="19" name="TextBox 18"/>
          <p:cNvSpPr txBox="1"/>
          <p:nvPr/>
        </p:nvSpPr>
        <p:spPr>
          <a:xfrm>
            <a:off x="8183880" y="2423160"/>
            <a:ext cx="2926080" cy="548640"/>
          </a:xfrm>
          <a:prstGeom prst="rect">
            <a:avLst/>
          </a:prstGeom>
          <a:noFill/>
        </p:spPr>
        <p:txBody>
          <a:bodyPr wrap="square">
            <a:spAutoFit/>
          </a:bodyPr>
          <a:lstStyle/>
          <a:p>
            <a:pPr algn="ctr">
              <a:defRPr sz="1100" b="0" i="0">
                <a:solidFill>
                  <a:srgbClr val="555555"/>
                </a:solidFill>
                <a:latin typeface="Segoe UI"/>
              </a:defRPr>
            </a:pPr>
            <a:r>
              <a:t>Article + embedding saved in Cosmos DB (browsing) and Azure AI Search (hybrid search)</a:t>
            </a:r>
          </a:p>
        </p:txBody>
      </p:sp>
      <p:sp>
        <p:nvSpPr>
          <p:cNvPr id="20" name="TextBox 19"/>
          <p:cNvSpPr txBox="1"/>
          <p:nvPr/>
        </p:nvSpPr>
        <p:spPr>
          <a:xfrm>
            <a:off x="548640" y="3291840"/>
            <a:ext cx="9144000" cy="274320"/>
          </a:xfrm>
          <a:prstGeom prst="rect">
            <a:avLst/>
          </a:prstGeom>
          <a:noFill/>
        </p:spPr>
        <p:txBody>
          <a:bodyPr wrap="square">
            <a:spAutoFit/>
          </a:bodyPr>
          <a:lstStyle/>
          <a:p>
            <a:pPr algn="l">
              <a:defRPr sz="1000" b="1" i="0">
                <a:solidFill>
                  <a:srgbClr val="888888"/>
                </a:solidFill>
                <a:latin typeface="Segoe UI"/>
              </a:defRPr>
            </a:pPr>
            <a:r>
              <a:t>HOW STAFF ASK — "WHAT'S IN THE NEWS ABOUT BROADBAND?"</a:t>
            </a:r>
          </a:p>
        </p:txBody>
      </p:sp>
      <p:sp>
        <p:nvSpPr>
          <p:cNvPr id="21" name="Rounded Rectangle 20"/>
          <p:cNvSpPr/>
          <p:nvPr/>
        </p:nvSpPr>
        <p:spPr>
          <a:xfrm>
            <a:off x="548640" y="361188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988820" y="3721608"/>
            <a:ext cx="320040" cy="3200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1</a:t>
            </a:r>
          </a:p>
        </p:txBody>
      </p:sp>
      <p:sp>
        <p:nvSpPr>
          <p:cNvPr id="23" name="TextBox 22"/>
          <p:cNvSpPr txBox="1"/>
          <p:nvPr/>
        </p:nvSpPr>
        <p:spPr>
          <a:xfrm>
            <a:off x="685800" y="4069080"/>
            <a:ext cx="2926080" cy="274320"/>
          </a:xfrm>
          <a:prstGeom prst="rect">
            <a:avLst/>
          </a:prstGeom>
          <a:noFill/>
        </p:spPr>
        <p:txBody>
          <a:bodyPr wrap="square">
            <a:spAutoFit/>
          </a:bodyPr>
          <a:lstStyle/>
          <a:p>
            <a:pPr algn="ctr">
              <a:defRPr sz="1500" b="1" i="0">
                <a:solidFill>
                  <a:srgbClr val="1A1A1A"/>
                </a:solidFill>
                <a:latin typeface="Segoe UI"/>
              </a:defRPr>
            </a:pPr>
            <a:r>
              <a:t>Ask in Teams</a:t>
            </a:r>
          </a:p>
        </p:txBody>
      </p:sp>
      <p:sp>
        <p:nvSpPr>
          <p:cNvPr id="24" name="TextBox 23"/>
          <p:cNvSpPr txBox="1"/>
          <p:nvPr/>
        </p:nvSpPr>
        <p:spPr>
          <a:xfrm>
            <a:off x="685800" y="4343400"/>
            <a:ext cx="2926080" cy="548640"/>
          </a:xfrm>
          <a:prstGeom prst="rect">
            <a:avLst/>
          </a:prstGeom>
          <a:noFill/>
        </p:spPr>
        <p:txBody>
          <a:bodyPr wrap="square">
            <a:spAutoFit/>
          </a:bodyPr>
          <a:lstStyle/>
          <a:p>
            <a:pPr algn="ctr">
              <a:defRPr sz="1100" b="0" i="0">
                <a:solidFill>
                  <a:srgbClr val="555555"/>
                </a:solidFill>
                <a:latin typeface="Segoe UI"/>
              </a:defRPr>
            </a:pPr>
            <a:r>
              <a:t>Staff types a question in the Copilot Studio chatbot</a:t>
            </a:r>
          </a:p>
        </p:txBody>
      </p:sp>
      <p:sp>
        <p:nvSpPr>
          <p:cNvPr id="25" name="TextBox 24"/>
          <p:cNvSpPr txBox="1"/>
          <p:nvPr/>
        </p:nvSpPr>
        <p:spPr>
          <a:xfrm>
            <a:off x="3749040" y="4114800"/>
            <a:ext cx="548640" cy="365760"/>
          </a:xfrm>
          <a:prstGeom prst="rect">
            <a:avLst/>
          </a:prstGeom>
          <a:noFill/>
        </p:spPr>
        <p:txBody>
          <a:bodyPr wrap="square">
            <a:spAutoFit/>
          </a:bodyPr>
          <a:lstStyle/>
          <a:p>
            <a:pPr algn="ctr">
              <a:defRPr sz="2600" b="0" i="0">
                <a:solidFill>
                  <a:srgbClr val="BBBBBB"/>
                </a:solidFill>
                <a:latin typeface="Segoe UI"/>
              </a:defRPr>
            </a:pPr>
            <a:r>
              <a:t>→</a:t>
            </a:r>
          </a:p>
        </p:txBody>
      </p:sp>
      <p:sp>
        <p:nvSpPr>
          <p:cNvPr id="26" name="Rounded Rectangle 25"/>
          <p:cNvSpPr/>
          <p:nvPr/>
        </p:nvSpPr>
        <p:spPr>
          <a:xfrm>
            <a:off x="4297680" y="361188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737860" y="3721608"/>
            <a:ext cx="320040" cy="3200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2</a:t>
            </a:r>
          </a:p>
        </p:txBody>
      </p:sp>
      <p:sp>
        <p:nvSpPr>
          <p:cNvPr id="28" name="TextBox 27"/>
          <p:cNvSpPr txBox="1"/>
          <p:nvPr/>
        </p:nvSpPr>
        <p:spPr>
          <a:xfrm>
            <a:off x="4434840" y="4069080"/>
            <a:ext cx="2926080" cy="274320"/>
          </a:xfrm>
          <a:prstGeom prst="rect">
            <a:avLst/>
          </a:prstGeom>
          <a:noFill/>
        </p:spPr>
        <p:txBody>
          <a:bodyPr wrap="square">
            <a:spAutoFit/>
          </a:bodyPr>
          <a:lstStyle/>
          <a:p>
            <a:pPr algn="ctr">
              <a:defRPr sz="1500" b="1" i="0">
                <a:solidFill>
                  <a:srgbClr val="1A1A1A"/>
                </a:solidFill>
                <a:latin typeface="Segoe UI"/>
              </a:defRPr>
            </a:pPr>
            <a:r>
              <a:t>Hybrid Search</a:t>
            </a:r>
          </a:p>
        </p:txBody>
      </p:sp>
      <p:sp>
        <p:nvSpPr>
          <p:cNvPr id="29" name="TextBox 28"/>
          <p:cNvSpPr txBox="1"/>
          <p:nvPr/>
        </p:nvSpPr>
        <p:spPr>
          <a:xfrm>
            <a:off x="4434840" y="4343400"/>
            <a:ext cx="2926080" cy="548640"/>
          </a:xfrm>
          <a:prstGeom prst="rect">
            <a:avLst/>
          </a:prstGeom>
          <a:noFill/>
        </p:spPr>
        <p:txBody>
          <a:bodyPr wrap="square">
            <a:spAutoFit/>
          </a:bodyPr>
          <a:lstStyle/>
          <a:p>
            <a:pPr algn="ctr">
              <a:defRPr sz="1100" b="0" i="0">
                <a:solidFill>
                  <a:srgbClr val="555555"/>
                </a:solidFill>
                <a:latin typeface="Segoe UI"/>
              </a:defRPr>
            </a:pPr>
            <a:r>
              <a:t>AI Search matches by meaning and keywords, then re-ranks with semantic ranker</a:t>
            </a:r>
          </a:p>
        </p:txBody>
      </p:sp>
      <p:sp>
        <p:nvSpPr>
          <p:cNvPr id="30" name="TextBox 29"/>
          <p:cNvSpPr txBox="1"/>
          <p:nvPr/>
        </p:nvSpPr>
        <p:spPr>
          <a:xfrm>
            <a:off x="7498080" y="4114800"/>
            <a:ext cx="548640" cy="365760"/>
          </a:xfrm>
          <a:prstGeom prst="rect">
            <a:avLst/>
          </a:prstGeom>
          <a:noFill/>
        </p:spPr>
        <p:txBody>
          <a:bodyPr wrap="square">
            <a:spAutoFit/>
          </a:bodyPr>
          <a:lstStyle/>
          <a:p>
            <a:pPr algn="ctr">
              <a:defRPr sz="2600" b="0" i="0">
                <a:solidFill>
                  <a:srgbClr val="BBBBBB"/>
                </a:solidFill>
                <a:latin typeface="Segoe UI"/>
              </a:defRPr>
            </a:pPr>
            <a:r>
              <a:t>→</a:t>
            </a:r>
          </a:p>
        </p:txBody>
      </p:sp>
      <p:sp>
        <p:nvSpPr>
          <p:cNvPr id="31" name="Rounded Rectangle 30"/>
          <p:cNvSpPr/>
          <p:nvPr/>
        </p:nvSpPr>
        <p:spPr>
          <a:xfrm>
            <a:off x="8046720" y="361188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486900" y="3721608"/>
            <a:ext cx="320040" cy="3200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3</a:t>
            </a:r>
          </a:p>
        </p:txBody>
      </p:sp>
      <p:sp>
        <p:nvSpPr>
          <p:cNvPr id="33" name="TextBox 32"/>
          <p:cNvSpPr txBox="1"/>
          <p:nvPr/>
        </p:nvSpPr>
        <p:spPr>
          <a:xfrm>
            <a:off x="8183880" y="4069080"/>
            <a:ext cx="2926080" cy="274320"/>
          </a:xfrm>
          <a:prstGeom prst="rect">
            <a:avLst/>
          </a:prstGeom>
          <a:noFill/>
        </p:spPr>
        <p:txBody>
          <a:bodyPr wrap="square">
            <a:spAutoFit/>
          </a:bodyPr>
          <a:lstStyle/>
          <a:p>
            <a:pPr algn="ctr">
              <a:defRPr sz="1500" b="1" i="0">
                <a:solidFill>
                  <a:srgbClr val="1A1A1A"/>
                </a:solidFill>
                <a:latin typeface="Segoe UI"/>
              </a:defRPr>
            </a:pPr>
            <a:r>
              <a:t>Results</a:t>
            </a:r>
          </a:p>
        </p:txBody>
      </p:sp>
      <p:sp>
        <p:nvSpPr>
          <p:cNvPr id="34" name="TextBox 33"/>
          <p:cNvSpPr txBox="1"/>
          <p:nvPr/>
        </p:nvSpPr>
        <p:spPr>
          <a:xfrm>
            <a:off x="8183880" y="4343400"/>
            <a:ext cx="2926080" cy="548640"/>
          </a:xfrm>
          <a:prstGeom prst="rect">
            <a:avLst/>
          </a:prstGeom>
          <a:noFill/>
        </p:spPr>
        <p:txBody>
          <a:bodyPr wrap="square">
            <a:spAutoFit/>
          </a:bodyPr>
          <a:lstStyle/>
          <a:p>
            <a:pPr algn="ctr">
              <a:defRPr sz="1100" b="0" i="0">
                <a:solidFill>
                  <a:srgbClr val="555555"/>
                </a:solidFill>
                <a:latin typeface="Segoe UI"/>
              </a:defRPr>
            </a:pPr>
            <a:r>
              <a:t>Matching clips returned with title, date, outlet, and the Governor mention</a:t>
            </a:r>
          </a:p>
        </p:txBody>
      </p:sp>
      <p:sp>
        <p:nvSpPr>
          <p:cNvPr id="35" name="Rounded Rectangle 34"/>
          <p:cNvSpPr/>
          <p:nvPr/>
        </p:nvSpPr>
        <p:spPr>
          <a:xfrm>
            <a:off x="548640" y="5257800"/>
            <a:ext cx="10789920" cy="640080"/>
          </a:xfrm>
          <a:prstGeom prst="roundRect">
            <a:avLst>
              <a:gd name="adj" fmla="val 5000"/>
            </a:avLst>
          </a:prstGeom>
          <a:solidFill>
            <a:srgbClr val="FFF8E1"/>
          </a:solidFill>
          <a:ln w="12700">
            <a:solidFill>
              <a:srgbClr val="F9A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330952"/>
            <a:ext cx="10424160" cy="493776"/>
          </a:xfrm>
          <a:prstGeom prst="rect">
            <a:avLst/>
          </a:prstGeom>
          <a:noFill/>
        </p:spPr>
        <p:txBody>
          <a:bodyPr wrap="square">
            <a:spAutoFit/>
          </a:bodyPr>
          <a:lstStyle/>
          <a:p>
            <a:pPr algn="l">
              <a:defRPr sz="1300" b="0" i="0">
                <a:solidFill>
                  <a:srgbClr val="1A1A1A"/>
                </a:solidFill>
                <a:latin typeface="Segoe UI"/>
              </a:defRPr>
            </a:pPr>
            <a:r>
              <a:rPr sz="1300" b="1">
                <a:solidFill>
                  <a:srgbClr val="E65100"/>
                </a:solidFill>
                <a:latin typeface="Segoe UI"/>
              </a:rPr>
              <a:t>Key: </a:t>
            </a:r>
            <a:r>
              <a:rPr sz="1300">
                <a:solidFill>
                  <a:srgbClr val="1A1A1A"/>
                </a:solidFill>
                <a:latin typeface="Segoe UI"/>
              </a:rPr>
              <a:t>"rural internet access" finds an article titled "Broadband Investment for Underserved Communities" — because the meaning matches, not just the words.</a:t>
            </a:r>
          </a:p>
        </p:txBody>
      </p:sp>
      <p:sp>
        <p:nvSpPr>
          <p:cNvPr id="37" name="TextBox 36"/>
          <p:cNvSpPr txBox="1"/>
          <p:nvPr/>
        </p:nvSpPr>
        <p:spPr>
          <a:xfrm>
            <a:off x="548640" y="6446520"/>
            <a:ext cx="4572000" cy="274320"/>
          </a:xfrm>
          <a:prstGeom prst="rect">
            <a:avLst/>
          </a:prstGeom>
          <a:noFill/>
        </p:spPr>
        <p:txBody>
          <a:bodyPr wrap="square">
            <a:spAutoFit/>
          </a:bodyPr>
          <a:lstStyle/>
          <a:p>
            <a:pPr algn="l">
              <a:defRPr sz="900" b="0" i="0">
                <a:solidFill>
                  <a:srgbClr val="BBBBBB"/>
                </a:solidFill>
                <a:latin typeface="Segoe UI"/>
              </a:defRPr>
            </a:pPr>
            <a:r>
              <a:t>NC DIT AI Office</a:t>
            </a:r>
          </a:p>
        </p:txBody>
      </p:sp>
      <p:sp>
        <p:nvSpPr>
          <p:cNvPr id="38" name="TextBox 37"/>
          <p:cNvSpPr txBox="1"/>
          <p:nvPr/>
        </p:nvSpPr>
        <p:spPr>
          <a:xfrm>
            <a:off x="6858000" y="6446520"/>
            <a:ext cx="4572000" cy="274320"/>
          </a:xfrm>
          <a:prstGeom prst="rect">
            <a:avLst/>
          </a:prstGeom>
          <a:noFill/>
        </p:spPr>
        <p:txBody>
          <a:bodyPr wrap="square">
            <a:spAutoFit/>
          </a:bodyPr>
          <a:lstStyle/>
          <a:p>
            <a:pPr algn="r">
              <a:defRPr sz="900" b="0" i="0">
                <a:solidFill>
                  <a:srgbClr val="BBBBBB"/>
                </a:solidFill>
                <a:latin typeface="Segoe UI"/>
              </a:defRPr>
            </a:pPr>
            <a:r>
              <a:t>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457200"/>
          </a:xfrm>
          <a:prstGeom prst="rect">
            <a:avLst/>
          </a:prstGeom>
          <a:noFill/>
        </p:spPr>
        <p:txBody>
          <a:bodyPr wrap="square">
            <a:spAutoFit/>
          </a:bodyPr>
          <a:lstStyle/>
          <a:p>
            <a:pPr algn="l">
              <a:defRPr sz="3200" b="1" i="0">
                <a:solidFill>
                  <a:srgbClr val="FFFFFF"/>
                </a:solidFill>
                <a:latin typeface="Segoe UI"/>
              </a:defRPr>
            </a:pPr>
            <a:r>
              <a:t>Remarks Search</a:t>
            </a:r>
          </a:p>
        </p:txBody>
      </p:sp>
      <p:sp>
        <p:nvSpPr>
          <p:cNvPr id="4" name="TextBox 3"/>
          <p:cNvSpPr txBox="1"/>
          <p:nvPr/>
        </p:nvSpPr>
        <p:spPr>
          <a:xfrm>
            <a:off x="548640" y="594360"/>
            <a:ext cx="10058400" cy="365760"/>
          </a:xfrm>
          <a:prstGeom prst="rect">
            <a:avLst/>
          </a:prstGeom>
          <a:noFill/>
        </p:spPr>
        <p:txBody>
          <a:bodyPr wrap="square">
            <a:spAutoFit/>
          </a:bodyPr>
          <a:lstStyle/>
          <a:p>
            <a:pPr algn="l">
              <a:defRPr sz="1500" b="0" i="0">
                <a:solidFill>
                  <a:srgbClr val="DDFFDD"/>
                </a:solidFill>
                <a:latin typeface="Segoe UI"/>
              </a:defRPr>
            </a:pPr>
            <a:r>
              <a:t>Search the Governor's speeches by topic. AI reads all matching passages and writes a summary with direct quotes.</a:t>
            </a:r>
          </a:p>
        </p:txBody>
      </p:sp>
      <p:sp>
        <p:nvSpPr>
          <p:cNvPr id="5" name="TextBox 4"/>
          <p:cNvSpPr txBox="1"/>
          <p:nvPr/>
        </p:nvSpPr>
        <p:spPr>
          <a:xfrm>
            <a:off x="548640" y="1325880"/>
            <a:ext cx="9144000" cy="274320"/>
          </a:xfrm>
          <a:prstGeom prst="rect">
            <a:avLst/>
          </a:prstGeom>
          <a:noFill/>
        </p:spPr>
        <p:txBody>
          <a:bodyPr wrap="square">
            <a:spAutoFit/>
          </a:bodyPr>
          <a:lstStyle/>
          <a:p>
            <a:pPr algn="l">
              <a:defRPr sz="1000" b="1" i="0">
                <a:solidFill>
                  <a:srgbClr val="888888"/>
                </a:solidFill>
                <a:latin typeface="Segoe UI"/>
              </a:defRPr>
            </a:pPr>
            <a:r>
              <a:t>HOW SPEECHES GET IN — UPLOAD TRIGGERS PROCESSING</a:t>
            </a:r>
          </a:p>
        </p:txBody>
      </p:sp>
      <p:sp>
        <p:nvSpPr>
          <p:cNvPr id="6" name="Rounded Rectangle 5"/>
          <p:cNvSpPr/>
          <p:nvPr/>
        </p:nvSpPr>
        <p:spPr>
          <a:xfrm>
            <a:off x="548640" y="169164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988820" y="1801368"/>
            <a:ext cx="320040" cy="320040"/>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1</a:t>
            </a:r>
          </a:p>
        </p:txBody>
      </p:sp>
      <p:sp>
        <p:nvSpPr>
          <p:cNvPr id="8" name="TextBox 7"/>
          <p:cNvSpPr txBox="1"/>
          <p:nvPr/>
        </p:nvSpPr>
        <p:spPr>
          <a:xfrm>
            <a:off x="685800" y="2148840"/>
            <a:ext cx="2926080" cy="274320"/>
          </a:xfrm>
          <a:prstGeom prst="rect">
            <a:avLst/>
          </a:prstGeom>
          <a:noFill/>
        </p:spPr>
        <p:txBody>
          <a:bodyPr wrap="square">
            <a:spAutoFit/>
          </a:bodyPr>
          <a:lstStyle/>
          <a:p>
            <a:pPr algn="ctr">
              <a:defRPr sz="1500" b="1" i="0">
                <a:solidFill>
                  <a:srgbClr val="1A1A1A"/>
                </a:solidFill>
                <a:latin typeface="Segoe UI"/>
              </a:defRPr>
            </a:pPr>
            <a:r>
              <a:t>Upload</a:t>
            </a:r>
          </a:p>
        </p:txBody>
      </p:sp>
      <p:sp>
        <p:nvSpPr>
          <p:cNvPr id="9" name="TextBox 8"/>
          <p:cNvSpPr txBox="1"/>
          <p:nvPr/>
        </p:nvSpPr>
        <p:spPr>
          <a:xfrm>
            <a:off x="685800" y="2423160"/>
            <a:ext cx="2926080" cy="548640"/>
          </a:xfrm>
          <a:prstGeom prst="rect">
            <a:avLst/>
          </a:prstGeom>
          <a:noFill/>
        </p:spPr>
        <p:txBody>
          <a:bodyPr wrap="square">
            <a:spAutoFit/>
          </a:bodyPr>
          <a:lstStyle/>
          <a:p>
            <a:pPr algn="ctr">
              <a:defRPr sz="1100" b="0" i="0">
                <a:solidFill>
                  <a:srgbClr val="555555"/>
                </a:solidFill>
                <a:latin typeface="Segoe UI"/>
              </a:defRPr>
            </a:pPr>
            <a:r>
              <a:t>Drop a speech file into Blob Storage — triggers an Azure Function automatically</a:t>
            </a:r>
          </a:p>
        </p:txBody>
      </p:sp>
      <p:sp>
        <p:nvSpPr>
          <p:cNvPr id="10" name="TextBox 9"/>
          <p:cNvSpPr txBox="1"/>
          <p:nvPr/>
        </p:nvSpPr>
        <p:spPr>
          <a:xfrm>
            <a:off x="3749040" y="2194560"/>
            <a:ext cx="548640" cy="365760"/>
          </a:xfrm>
          <a:prstGeom prst="rect">
            <a:avLst/>
          </a:prstGeom>
          <a:noFill/>
        </p:spPr>
        <p:txBody>
          <a:bodyPr wrap="square">
            <a:spAutoFit/>
          </a:bodyPr>
          <a:lstStyle/>
          <a:p>
            <a:pPr algn="ctr">
              <a:defRPr sz="2600" b="0" i="0">
                <a:solidFill>
                  <a:srgbClr val="BBBBBB"/>
                </a:solidFill>
                <a:latin typeface="Segoe UI"/>
              </a:defRPr>
            </a:pPr>
            <a:r>
              <a:t>→</a:t>
            </a:r>
          </a:p>
        </p:txBody>
      </p:sp>
      <p:sp>
        <p:nvSpPr>
          <p:cNvPr id="11" name="Rounded Rectangle 10"/>
          <p:cNvSpPr/>
          <p:nvPr/>
        </p:nvSpPr>
        <p:spPr>
          <a:xfrm>
            <a:off x="4297680" y="169164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737860" y="1801368"/>
            <a:ext cx="320040" cy="320040"/>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2</a:t>
            </a:r>
          </a:p>
        </p:txBody>
      </p:sp>
      <p:sp>
        <p:nvSpPr>
          <p:cNvPr id="13" name="TextBox 12"/>
          <p:cNvSpPr txBox="1"/>
          <p:nvPr/>
        </p:nvSpPr>
        <p:spPr>
          <a:xfrm>
            <a:off x="4434840" y="2148840"/>
            <a:ext cx="2926080" cy="274320"/>
          </a:xfrm>
          <a:prstGeom prst="rect">
            <a:avLst/>
          </a:prstGeom>
          <a:noFill/>
        </p:spPr>
        <p:txBody>
          <a:bodyPr wrap="square">
            <a:spAutoFit/>
          </a:bodyPr>
          <a:lstStyle/>
          <a:p>
            <a:pPr algn="ctr">
              <a:defRPr sz="1500" b="1" i="0">
                <a:solidFill>
                  <a:srgbClr val="1A1A1A"/>
                </a:solidFill>
                <a:latin typeface="Segoe UI"/>
              </a:defRPr>
            </a:pPr>
            <a:r>
              <a:t>Chunk + Embed</a:t>
            </a:r>
          </a:p>
        </p:txBody>
      </p:sp>
      <p:sp>
        <p:nvSpPr>
          <p:cNvPr id="14" name="TextBox 13"/>
          <p:cNvSpPr txBox="1"/>
          <p:nvPr/>
        </p:nvSpPr>
        <p:spPr>
          <a:xfrm>
            <a:off x="4434840" y="2423160"/>
            <a:ext cx="2926080" cy="548640"/>
          </a:xfrm>
          <a:prstGeom prst="rect">
            <a:avLst/>
          </a:prstGeom>
          <a:noFill/>
        </p:spPr>
        <p:txBody>
          <a:bodyPr wrap="square">
            <a:spAutoFit/>
          </a:bodyPr>
          <a:lstStyle/>
          <a:p>
            <a:pPr algn="ctr">
              <a:defRPr sz="1100" b="0" i="0">
                <a:solidFill>
                  <a:srgbClr val="555555"/>
                </a:solidFill>
                <a:latin typeface="Segoe UI"/>
              </a:defRPr>
            </a:pPr>
            <a:r>
              <a:t>Function splits into paragraphs, embeds each chunk, tags with date/event/venue</a:t>
            </a:r>
          </a:p>
        </p:txBody>
      </p:sp>
      <p:sp>
        <p:nvSpPr>
          <p:cNvPr id="15" name="TextBox 14"/>
          <p:cNvSpPr txBox="1"/>
          <p:nvPr/>
        </p:nvSpPr>
        <p:spPr>
          <a:xfrm>
            <a:off x="7498080" y="2194560"/>
            <a:ext cx="548640" cy="365760"/>
          </a:xfrm>
          <a:prstGeom prst="rect">
            <a:avLst/>
          </a:prstGeom>
          <a:noFill/>
        </p:spPr>
        <p:txBody>
          <a:bodyPr wrap="square">
            <a:spAutoFit/>
          </a:bodyPr>
          <a:lstStyle/>
          <a:p>
            <a:pPr algn="ctr">
              <a:defRPr sz="2600" b="0" i="0">
                <a:solidFill>
                  <a:srgbClr val="BBBBBB"/>
                </a:solidFill>
                <a:latin typeface="Segoe UI"/>
              </a:defRPr>
            </a:pPr>
            <a:r>
              <a:t>→</a:t>
            </a:r>
          </a:p>
        </p:txBody>
      </p:sp>
      <p:sp>
        <p:nvSpPr>
          <p:cNvPr id="16" name="Rounded Rectangle 15"/>
          <p:cNvSpPr/>
          <p:nvPr/>
        </p:nvSpPr>
        <p:spPr>
          <a:xfrm>
            <a:off x="8046720" y="169164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86900" y="1801368"/>
            <a:ext cx="320040" cy="320040"/>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3</a:t>
            </a:r>
          </a:p>
        </p:txBody>
      </p:sp>
      <p:sp>
        <p:nvSpPr>
          <p:cNvPr id="18" name="TextBox 17"/>
          <p:cNvSpPr txBox="1"/>
          <p:nvPr/>
        </p:nvSpPr>
        <p:spPr>
          <a:xfrm>
            <a:off x="8183880" y="2148840"/>
            <a:ext cx="2926080" cy="274320"/>
          </a:xfrm>
          <a:prstGeom prst="rect">
            <a:avLst/>
          </a:prstGeom>
          <a:noFill/>
        </p:spPr>
        <p:txBody>
          <a:bodyPr wrap="square">
            <a:spAutoFit/>
          </a:bodyPr>
          <a:lstStyle/>
          <a:p>
            <a:pPr algn="ctr">
              <a:defRPr sz="1500" b="1" i="0">
                <a:solidFill>
                  <a:srgbClr val="1A1A1A"/>
                </a:solidFill>
                <a:latin typeface="Segoe UI"/>
              </a:defRPr>
            </a:pPr>
            <a:r>
              <a:t>Index</a:t>
            </a:r>
          </a:p>
        </p:txBody>
      </p:sp>
      <p:sp>
        <p:nvSpPr>
          <p:cNvPr id="19" name="TextBox 18"/>
          <p:cNvSpPr txBox="1"/>
          <p:nvPr/>
        </p:nvSpPr>
        <p:spPr>
          <a:xfrm>
            <a:off x="8183880" y="2423160"/>
            <a:ext cx="2926080" cy="548640"/>
          </a:xfrm>
          <a:prstGeom prst="rect">
            <a:avLst/>
          </a:prstGeom>
          <a:noFill/>
        </p:spPr>
        <p:txBody>
          <a:bodyPr wrap="square">
            <a:spAutoFit/>
          </a:bodyPr>
          <a:lstStyle/>
          <a:p>
            <a:pPr algn="ctr">
              <a:defRPr sz="1100" b="0" i="0">
                <a:solidFill>
                  <a:srgbClr val="555555"/>
                </a:solidFill>
                <a:latin typeface="Segoe UI"/>
              </a:defRPr>
            </a:pPr>
            <a:r>
              <a:t>Chunks stored in Cosmos DB + Azure AI Search for retrieval</a:t>
            </a:r>
          </a:p>
        </p:txBody>
      </p:sp>
      <p:sp>
        <p:nvSpPr>
          <p:cNvPr id="20" name="TextBox 19"/>
          <p:cNvSpPr txBox="1"/>
          <p:nvPr/>
        </p:nvSpPr>
        <p:spPr>
          <a:xfrm>
            <a:off x="548640" y="3291840"/>
            <a:ext cx="9144000" cy="274320"/>
          </a:xfrm>
          <a:prstGeom prst="rect">
            <a:avLst/>
          </a:prstGeom>
          <a:noFill/>
        </p:spPr>
        <p:txBody>
          <a:bodyPr wrap="square">
            <a:spAutoFit/>
          </a:bodyPr>
          <a:lstStyle/>
          <a:p>
            <a:pPr algn="l">
              <a:defRPr sz="1000" b="1" i="0">
                <a:solidFill>
                  <a:srgbClr val="888888"/>
                </a:solidFill>
                <a:latin typeface="Segoe UI"/>
              </a:defRPr>
            </a:pPr>
            <a:r>
              <a:t>HOW STAFF ASK — "WHAT HAS THE GOVERNOR SAID ABOUT TEACHER PAY?"</a:t>
            </a:r>
          </a:p>
        </p:txBody>
      </p:sp>
      <p:sp>
        <p:nvSpPr>
          <p:cNvPr id="21" name="Rounded Rectangle 20"/>
          <p:cNvSpPr/>
          <p:nvPr/>
        </p:nvSpPr>
        <p:spPr>
          <a:xfrm>
            <a:off x="548640" y="361188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988820" y="3721608"/>
            <a:ext cx="320040" cy="320040"/>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1</a:t>
            </a:r>
          </a:p>
        </p:txBody>
      </p:sp>
      <p:sp>
        <p:nvSpPr>
          <p:cNvPr id="23" name="TextBox 22"/>
          <p:cNvSpPr txBox="1"/>
          <p:nvPr/>
        </p:nvSpPr>
        <p:spPr>
          <a:xfrm>
            <a:off x="685800" y="4069080"/>
            <a:ext cx="2926080" cy="274320"/>
          </a:xfrm>
          <a:prstGeom prst="rect">
            <a:avLst/>
          </a:prstGeom>
          <a:noFill/>
        </p:spPr>
        <p:txBody>
          <a:bodyPr wrap="square">
            <a:spAutoFit/>
          </a:bodyPr>
          <a:lstStyle/>
          <a:p>
            <a:pPr algn="ctr">
              <a:defRPr sz="1500" b="1" i="0">
                <a:solidFill>
                  <a:srgbClr val="1A1A1A"/>
                </a:solidFill>
                <a:latin typeface="Segoe UI"/>
              </a:defRPr>
            </a:pPr>
            <a:r>
              <a:t>Ask in Teams</a:t>
            </a:r>
          </a:p>
        </p:txBody>
      </p:sp>
      <p:sp>
        <p:nvSpPr>
          <p:cNvPr id="24" name="TextBox 23"/>
          <p:cNvSpPr txBox="1"/>
          <p:nvPr/>
        </p:nvSpPr>
        <p:spPr>
          <a:xfrm>
            <a:off x="685800" y="4343400"/>
            <a:ext cx="2926080" cy="548640"/>
          </a:xfrm>
          <a:prstGeom prst="rect">
            <a:avLst/>
          </a:prstGeom>
          <a:noFill/>
        </p:spPr>
        <p:txBody>
          <a:bodyPr wrap="square">
            <a:spAutoFit/>
          </a:bodyPr>
          <a:lstStyle/>
          <a:p>
            <a:pPr algn="ctr">
              <a:defRPr sz="1100" b="0" i="0">
                <a:solidFill>
                  <a:srgbClr val="555555"/>
                </a:solidFill>
                <a:latin typeface="Segoe UI"/>
              </a:defRPr>
            </a:pPr>
            <a:r>
              <a:t>Staff types a topic question in the Copilot Studio chatbot</a:t>
            </a:r>
          </a:p>
        </p:txBody>
      </p:sp>
      <p:sp>
        <p:nvSpPr>
          <p:cNvPr id="25" name="TextBox 24"/>
          <p:cNvSpPr txBox="1"/>
          <p:nvPr/>
        </p:nvSpPr>
        <p:spPr>
          <a:xfrm>
            <a:off x="3749040" y="4114800"/>
            <a:ext cx="548640" cy="365760"/>
          </a:xfrm>
          <a:prstGeom prst="rect">
            <a:avLst/>
          </a:prstGeom>
          <a:noFill/>
        </p:spPr>
        <p:txBody>
          <a:bodyPr wrap="square">
            <a:spAutoFit/>
          </a:bodyPr>
          <a:lstStyle/>
          <a:p>
            <a:pPr algn="ctr">
              <a:defRPr sz="2600" b="0" i="0">
                <a:solidFill>
                  <a:srgbClr val="BBBBBB"/>
                </a:solidFill>
                <a:latin typeface="Segoe UI"/>
              </a:defRPr>
            </a:pPr>
            <a:r>
              <a:t>→</a:t>
            </a:r>
          </a:p>
        </p:txBody>
      </p:sp>
      <p:sp>
        <p:nvSpPr>
          <p:cNvPr id="26" name="Rounded Rectangle 25"/>
          <p:cNvSpPr/>
          <p:nvPr/>
        </p:nvSpPr>
        <p:spPr>
          <a:xfrm>
            <a:off x="4297680" y="361188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737860" y="3721608"/>
            <a:ext cx="320040" cy="320040"/>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2</a:t>
            </a:r>
          </a:p>
        </p:txBody>
      </p:sp>
      <p:sp>
        <p:nvSpPr>
          <p:cNvPr id="28" name="TextBox 27"/>
          <p:cNvSpPr txBox="1"/>
          <p:nvPr/>
        </p:nvSpPr>
        <p:spPr>
          <a:xfrm>
            <a:off x="4434840" y="4069080"/>
            <a:ext cx="2926080" cy="274320"/>
          </a:xfrm>
          <a:prstGeom prst="rect">
            <a:avLst/>
          </a:prstGeom>
          <a:noFill/>
        </p:spPr>
        <p:txBody>
          <a:bodyPr wrap="square">
            <a:spAutoFit/>
          </a:bodyPr>
          <a:lstStyle/>
          <a:p>
            <a:pPr algn="ctr">
              <a:defRPr sz="1500" b="1" i="0">
                <a:solidFill>
                  <a:srgbClr val="1A1A1A"/>
                </a:solidFill>
                <a:latin typeface="Segoe UI"/>
              </a:defRPr>
            </a:pPr>
            <a:r>
              <a:t>Hybrid Search</a:t>
            </a:r>
          </a:p>
        </p:txBody>
      </p:sp>
      <p:sp>
        <p:nvSpPr>
          <p:cNvPr id="29" name="TextBox 28"/>
          <p:cNvSpPr txBox="1"/>
          <p:nvPr/>
        </p:nvSpPr>
        <p:spPr>
          <a:xfrm>
            <a:off x="4434840" y="4343400"/>
            <a:ext cx="2926080" cy="548640"/>
          </a:xfrm>
          <a:prstGeom prst="rect">
            <a:avLst/>
          </a:prstGeom>
          <a:noFill/>
        </p:spPr>
        <p:txBody>
          <a:bodyPr wrap="square">
            <a:spAutoFit/>
          </a:bodyPr>
          <a:lstStyle/>
          <a:p>
            <a:pPr algn="ctr">
              <a:defRPr sz="1100" b="0" i="0">
                <a:solidFill>
                  <a:srgbClr val="555555"/>
                </a:solidFill>
                <a:latin typeface="Segoe UI"/>
              </a:defRPr>
            </a:pPr>
            <a:r>
              <a:t>Finds top matching speech chunks across all remarks via vector + keyword search</a:t>
            </a:r>
          </a:p>
        </p:txBody>
      </p:sp>
      <p:sp>
        <p:nvSpPr>
          <p:cNvPr id="30" name="TextBox 29"/>
          <p:cNvSpPr txBox="1"/>
          <p:nvPr/>
        </p:nvSpPr>
        <p:spPr>
          <a:xfrm>
            <a:off x="7498080" y="4114800"/>
            <a:ext cx="548640" cy="365760"/>
          </a:xfrm>
          <a:prstGeom prst="rect">
            <a:avLst/>
          </a:prstGeom>
          <a:noFill/>
        </p:spPr>
        <p:txBody>
          <a:bodyPr wrap="square">
            <a:spAutoFit/>
          </a:bodyPr>
          <a:lstStyle/>
          <a:p>
            <a:pPr algn="ctr">
              <a:defRPr sz="2600" b="0" i="0">
                <a:solidFill>
                  <a:srgbClr val="BBBBBB"/>
                </a:solidFill>
                <a:latin typeface="Segoe UI"/>
              </a:defRPr>
            </a:pPr>
            <a:r>
              <a:t>→</a:t>
            </a:r>
          </a:p>
        </p:txBody>
      </p:sp>
      <p:sp>
        <p:nvSpPr>
          <p:cNvPr id="31" name="Rounded Rectangle 30"/>
          <p:cNvSpPr/>
          <p:nvPr/>
        </p:nvSpPr>
        <p:spPr>
          <a:xfrm>
            <a:off x="8046720" y="361188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486900" y="3721608"/>
            <a:ext cx="320040" cy="320040"/>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3</a:t>
            </a:r>
          </a:p>
        </p:txBody>
      </p:sp>
      <p:sp>
        <p:nvSpPr>
          <p:cNvPr id="33" name="TextBox 32"/>
          <p:cNvSpPr txBox="1"/>
          <p:nvPr/>
        </p:nvSpPr>
        <p:spPr>
          <a:xfrm>
            <a:off x="8183880" y="4069080"/>
            <a:ext cx="2926080" cy="274320"/>
          </a:xfrm>
          <a:prstGeom prst="rect">
            <a:avLst/>
          </a:prstGeom>
          <a:noFill/>
        </p:spPr>
        <p:txBody>
          <a:bodyPr wrap="square">
            <a:spAutoFit/>
          </a:bodyPr>
          <a:lstStyle/>
          <a:p>
            <a:pPr algn="ctr">
              <a:defRPr sz="1500" b="1" i="0">
                <a:solidFill>
                  <a:srgbClr val="1A1A1A"/>
                </a:solidFill>
                <a:latin typeface="Segoe UI"/>
              </a:defRPr>
            </a:pPr>
            <a:r>
              <a:t>GPT-4o Synthesizes</a:t>
            </a:r>
          </a:p>
        </p:txBody>
      </p:sp>
      <p:sp>
        <p:nvSpPr>
          <p:cNvPr id="34" name="TextBox 33"/>
          <p:cNvSpPr txBox="1"/>
          <p:nvPr/>
        </p:nvSpPr>
        <p:spPr>
          <a:xfrm>
            <a:off x="8183880" y="4343400"/>
            <a:ext cx="2926080" cy="548640"/>
          </a:xfrm>
          <a:prstGeom prst="rect">
            <a:avLst/>
          </a:prstGeom>
          <a:noFill/>
        </p:spPr>
        <p:txBody>
          <a:bodyPr wrap="square">
            <a:spAutoFit/>
          </a:bodyPr>
          <a:lstStyle/>
          <a:p>
            <a:pPr algn="ctr">
              <a:defRPr sz="1100" b="0" i="0">
                <a:solidFill>
                  <a:srgbClr val="555555"/>
                </a:solidFill>
                <a:latin typeface="Segoe UI"/>
              </a:defRPr>
            </a:pPr>
            <a:r>
              <a:t>AI reads the chunks and writes a synthesis with direct quotes, dates, and sources</a:t>
            </a:r>
          </a:p>
        </p:txBody>
      </p:sp>
      <p:sp>
        <p:nvSpPr>
          <p:cNvPr id="35" name="Rounded Rectangle 34"/>
          <p:cNvSpPr/>
          <p:nvPr/>
        </p:nvSpPr>
        <p:spPr>
          <a:xfrm>
            <a:off x="548640" y="5257800"/>
            <a:ext cx="10789920" cy="640080"/>
          </a:xfrm>
          <a:prstGeom prst="roundRect">
            <a:avLst>
              <a:gd name="adj" fmla="val 5000"/>
            </a:avLst>
          </a:prstGeom>
          <a:solidFill>
            <a:srgbClr val="FFF8E1"/>
          </a:solidFill>
          <a:ln w="12700">
            <a:solidFill>
              <a:srgbClr val="F9A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330952"/>
            <a:ext cx="10424160" cy="493776"/>
          </a:xfrm>
          <a:prstGeom prst="rect">
            <a:avLst/>
          </a:prstGeom>
          <a:noFill/>
        </p:spPr>
        <p:txBody>
          <a:bodyPr wrap="square">
            <a:spAutoFit/>
          </a:bodyPr>
          <a:lstStyle/>
          <a:p>
            <a:pPr algn="l">
              <a:defRPr sz="1300" b="0" i="0">
                <a:solidFill>
                  <a:srgbClr val="1A1A1A"/>
                </a:solidFill>
                <a:latin typeface="Segoe UI"/>
              </a:defRPr>
            </a:pPr>
            <a:r>
              <a:rPr sz="1300" b="1">
                <a:solidFill>
                  <a:srgbClr val="E65100"/>
                </a:solidFill>
                <a:latin typeface="Segoe UI"/>
              </a:rPr>
              <a:t>This is the RAG pattern </a:t>
            </a:r>
            <a:r>
              <a:rPr sz="1300">
                <a:solidFill>
                  <a:srgbClr val="1A1A1A"/>
                </a:solidFill>
                <a:latin typeface="Segoe UI"/>
              </a:rPr>
              <a:t>(Retrieval-Augmented Generation): we retrieve real source material first, then ask AI to summarize only what it found. The AI never invents quotes — it cites real text from real speeches.</a:t>
            </a:r>
          </a:p>
        </p:txBody>
      </p:sp>
      <p:sp>
        <p:nvSpPr>
          <p:cNvPr id="37" name="TextBox 36"/>
          <p:cNvSpPr txBox="1"/>
          <p:nvPr/>
        </p:nvSpPr>
        <p:spPr>
          <a:xfrm>
            <a:off x="548640" y="6446520"/>
            <a:ext cx="4572000" cy="274320"/>
          </a:xfrm>
          <a:prstGeom prst="rect">
            <a:avLst/>
          </a:prstGeom>
          <a:noFill/>
        </p:spPr>
        <p:txBody>
          <a:bodyPr wrap="square">
            <a:spAutoFit/>
          </a:bodyPr>
          <a:lstStyle/>
          <a:p>
            <a:pPr algn="l">
              <a:defRPr sz="900" b="0" i="0">
                <a:solidFill>
                  <a:srgbClr val="BBBBBB"/>
                </a:solidFill>
                <a:latin typeface="Segoe UI"/>
              </a:defRPr>
            </a:pPr>
            <a:r>
              <a:t>NC DIT AI Office</a:t>
            </a:r>
          </a:p>
        </p:txBody>
      </p:sp>
      <p:sp>
        <p:nvSpPr>
          <p:cNvPr id="38" name="TextBox 37"/>
          <p:cNvSpPr txBox="1"/>
          <p:nvPr/>
        </p:nvSpPr>
        <p:spPr>
          <a:xfrm>
            <a:off x="6858000" y="6446520"/>
            <a:ext cx="4572000" cy="274320"/>
          </a:xfrm>
          <a:prstGeom prst="rect">
            <a:avLst/>
          </a:prstGeom>
          <a:noFill/>
        </p:spPr>
        <p:txBody>
          <a:bodyPr wrap="square">
            <a:spAutoFit/>
          </a:bodyPr>
          <a:lstStyle/>
          <a:p>
            <a:pPr algn="r">
              <a:defRPr sz="900" b="0" i="0">
                <a:solidFill>
                  <a:srgbClr val="BBBBBB"/>
                </a:solidFill>
                <a:latin typeface="Segoe UI"/>
              </a:defRPr>
            </a:pPr>
            <a:r>
              <a:t>4 /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457200"/>
          </a:xfrm>
          <a:prstGeom prst="rect">
            <a:avLst/>
          </a:prstGeom>
          <a:noFill/>
        </p:spPr>
        <p:txBody>
          <a:bodyPr wrap="square">
            <a:spAutoFit/>
          </a:bodyPr>
          <a:lstStyle/>
          <a:p>
            <a:pPr algn="l">
              <a:defRPr sz="3200" b="1" i="0">
                <a:solidFill>
                  <a:srgbClr val="FFFFFF"/>
                </a:solidFill>
                <a:latin typeface="Segoe UI"/>
              </a:defRPr>
            </a:pPr>
            <a:r>
              <a:t>Transcript Proofreading</a:t>
            </a:r>
          </a:p>
        </p:txBody>
      </p:sp>
      <p:sp>
        <p:nvSpPr>
          <p:cNvPr id="4" name="TextBox 3"/>
          <p:cNvSpPr txBox="1"/>
          <p:nvPr/>
        </p:nvSpPr>
        <p:spPr>
          <a:xfrm>
            <a:off x="548640" y="594360"/>
            <a:ext cx="10058400" cy="365760"/>
          </a:xfrm>
          <a:prstGeom prst="rect">
            <a:avLst/>
          </a:prstGeom>
          <a:noFill/>
        </p:spPr>
        <p:txBody>
          <a:bodyPr wrap="square">
            <a:spAutoFit/>
          </a:bodyPr>
          <a:lstStyle/>
          <a:p>
            <a:pPr algn="l">
              <a:defRPr sz="1500" b="0" i="0">
                <a:solidFill>
                  <a:srgbClr val="FFDDCC"/>
                </a:solidFill>
                <a:latin typeface="Segoe UI"/>
              </a:defRPr>
            </a:pPr>
            <a:r>
              <a:t>Paste a rough transcript, get back a clean version with every change explained.</a:t>
            </a:r>
          </a:p>
        </p:txBody>
      </p:sp>
      <p:sp>
        <p:nvSpPr>
          <p:cNvPr id="5" name="TextBox 4"/>
          <p:cNvSpPr txBox="1"/>
          <p:nvPr/>
        </p:nvSpPr>
        <p:spPr>
          <a:xfrm>
            <a:off x="548640" y="1325880"/>
            <a:ext cx="9144000" cy="274320"/>
          </a:xfrm>
          <a:prstGeom prst="rect">
            <a:avLst/>
          </a:prstGeom>
          <a:noFill/>
        </p:spPr>
        <p:txBody>
          <a:bodyPr wrap="square">
            <a:spAutoFit/>
          </a:bodyPr>
          <a:lstStyle/>
          <a:p>
            <a:pPr algn="l">
              <a:defRPr sz="1000" b="1" i="0">
                <a:solidFill>
                  <a:srgbClr val="888888"/>
                </a:solidFill>
                <a:latin typeface="Segoe UI"/>
              </a:defRPr>
            </a:pPr>
            <a:r>
              <a:t>HOW IT WORKS — ONE STEP, NO DATA STORED</a:t>
            </a:r>
          </a:p>
        </p:txBody>
      </p:sp>
      <p:sp>
        <p:nvSpPr>
          <p:cNvPr id="6" name="Rounded Rectangle 5"/>
          <p:cNvSpPr/>
          <p:nvPr/>
        </p:nvSpPr>
        <p:spPr>
          <a:xfrm>
            <a:off x="548640" y="169164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988820" y="1801368"/>
            <a:ext cx="320040" cy="320040"/>
          </a:xfrm>
          <a:prstGeom prst="ellipse">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1</a:t>
            </a:r>
          </a:p>
        </p:txBody>
      </p:sp>
      <p:sp>
        <p:nvSpPr>
          <p:cNvPr id="8" name="TextBox 7"/>
          <p:cNvSpPr txBox="1"/>
          <p:nvPr/>
        </p:nvSpPr>
        <p:spPr>
          <a:xfrm>
            <a:off x="685800" y="2148840"/>
            <a:ext cx="2926080" cy="274320"/>
          </a:xfrm>
          <a:prstGeom prst="rect">
            <a:avLst/>
          </a:prstGeom>
          <a:noFill/>
        </p:spPr>
        <p:txBody>
          <a:bodyPr wrap="square">
            <a:spAutoFit/>
          </a:bodyPr>
          <a:lstStyle/>
          <a:p>
            <a:pPr algn="ctr">
              <a:defRPr sz="1500" b="1" i="0">
                <a:solidFill>
                  <a:srgbClr val="1A1A1A"/>
                </a:solidFill>
                <a:latin typeface="Segoe UI"/>
              </a:defRPr>
            </a:pPr>
            <a:r>
              <a:t>Paste Text</a:t>
            </a:r>
          </a:p>
        </p:txBody>
      </p:sp>
      <p:sp>
        <p:nvSpPr>
          <p:cNvPr id="9" name="TextBox 8"/>
          <p:cNvSpPr txBox="1"/>
          <p:nvPr/>
        </p:nvSpPr>
        <p:spPr>
          <a:xfrm>
            <a:off x="685800" y="2423160"/>
            <a:ext cx="2926080" cy="548640"/>
          </a:xfrm>
          <a:prstGeom prst="rect">
            <a:avLst/>
          </a:prstGeom>
          <a:noFill/>
        </p:spPr>
        <p:txBody>
          <a:bodyPr wrap="square">
            <a:spAutoFit/>
          </a:bodyPr>
          <a:lstStyle/>
          <a:p>
            <a:pPr algn="ctr">
              <a:defRPr sz="1100" b="0" i="0">
                <a:solidFill>
                  <a:srgbClr val="555555"/>
                </a:solidFill>
                <a:latin typeface="Segoe UI"/>
              </a:defRPr>
            </a:pPr>
            <a:r>
              <a:t>Staff pastes a raw transcript from voice-to-text or a scanned document into the chatbot</a:t>
            </a:r>
          </a:p>
        </p:txBody>
      </p:sp>
      <p:sp>
        <p:nvSpPr>
          <p:cNvPr id="10" name="TextBox 9"/>
          <p:cNvSpPr txBox="1"/>
          <p:nvPr/>
        </p:nvSpPr>
        <p:spPr>
          <a:xfrm>
            <a:off x="3749040" y="2194560"/>
            <a:ext cx="548640" cy="365760"/>
          </a:xfrm>
          <a:prstGeom prst="rect">
            <a:avLst/>
          </a:prstGeom>
          <a:noFill/>
        </p:spPr>
        <p:txBody>
          <a:bodyPr wrap="square">
            <a:spAutoFit/>
          </a:bodyPr>
          <a:lstStyle/>
          <a:p>
            <a:pPr algn="ctr">
              <a:defRPr sz="2600" b="0" i="0">
                <a:solidFill>
                  <a:srgbClr val="BBBBBB"/>
                </a:solidFill>
                <a:latin typeface="Segoe UI"/>
              </a:defRPr>
            </a:pPr>
            <a:r>
              <a:t>→</a:t>
            </a:r>
          </a:p>
        </p:txBody>
      </p:sp>
      <p:sp>
        <p:nvSpPr>
          <p:cNvPr id="11" name="Rounded Rectangle 10"/>
          <p:cNvSpPr/>
          <p:nvPr/>
        </p:nvSpPr>
        <p:spPr>
          <a:xfrm>
            <a:off x="4297680" y="169164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737860" y="1801368"/>
            <a:ext cx="320040" cy="320040"/>
          </a:xfrm>
          <a:prstGeom prst="ellipse">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2</a:t>
            </a:r>
          </a:p>
        </p:txBody>
      </p:sp>
      <p:sp>
        <p:nvSpPr>
          <p:cNvPr id="13" name="TextBox 12"/>
          <p:cNvSpPr txBox="1"/>
          <p:nvPr/>
        </p:nvSpPr>
        <p:spPr>
          <a:xfrm>
            <a:off x="4434840" y="2148840"/>
            <a:ext cx="2926080" cy="274320"/>
          </a:xfrm>
          <a:prstGeom prst="rect">
            <a:avLst/>
          </a:prstGeom>
          <a:noFill/>
        </p:spPr>
        <p:txBody>
          <a:bodyPr wrap="square">
            <a:spAutoFit/>
          </a:bodyPr>
          <a:lstStyle/>
          <a:p>
            <a:pPr algn="ctr">
              <a:defRPr sz="1500" b="1" i="0">
                <a:solidFill>
                  <a:srgbClr val="1A1A1A"/>
                </a:solidFill>
                <a:latin typeface="Segoe UI"/>
              </a:defRPr>
            </a:pPr>
            <a:r>
              <a:t>GPT-4o Proofreads</a:t>
            </a:r>
          </a:p>
        </p:txBody>
      </p:sp>
      <p:sp>
        <p:nvSpPr>
          <p:cNvPr id="14" name="TextBox 13"/>
          <p:cNvSpPr txBox="1"/>
          <p:nvPr/>
        </p:nvSpPr>
        <p:spPr>
          <a:xfrm>
            <a:off x="4434840" y="2423160"/>
            <a:ext cx="2926080" cy="548640"/>
          </a:xfrm>
          <a:prstGeom prst="rect">
            <a:avLst/>
          </a:prstGeom>
          <a:noFill/>
        </p:spPr>
        <p:txBody>
          <a:bodyPr wrap="square">
            <a:spAutoFit/>
          </a:bodyPr>
          <a:lstStyle/>
          <a:p>
            <a:pPr algn="ctr">
              <a:defRPr sz="1100" b="0" i="0">
                <a:solidFill>
                  <a:srgbClr val="555555"/>
                </a:solidFill>
                <a:latin typeface="Segoe UI"/>
              </a:defRPr>
            </a:pPr>
            <a:r>
              <a:t>Fixes ASR/OCR errors, punctuation, proper nouns — never changes meaning or speaking style</a:t>
            </a:r>
          </a:p>
        </p:txBody>
      </p:sp>
      <p:sp>
        <p:nvSpPr>
          <p:cNvPr id="15" name="TextBox 14"/>
          <p:cNvSpPr txBox="1"/>
          <p:nvPr/>
        </p:nvSpPr>
        <p:spPr>
          <a:xfrm>
            <a:off x="7498080" y="2194560"/>
            <a:ext cx="548640" cy="365760"/>
          </a:xfrm>
          <a:prstGeom prst="rect">
            <a:avLst/>
          </a:prstGeom>
          <a:noFill/>
        </p:spPr>
        <p:txBody>
          <a:bodyPr wrap="square">
            <a:spAutoFit/>
          </a:bodyPr>
          <a:lstStyle/>
          <a:p>
            <a:pPr algn="ctr">
              <a:defRPr sz="2600" b="0" i="0">
                <a:solidFill>
                  <a:srgbClr val="BBBBBB"/>
                </a:solidFill>
                <a:latin typeface="Segoe UI"/>
              </a:defRPr>
            </a:pPr>
            <a:r>
              <a:t>→</a:t>
            </a:r>
          </a:p>
        </p:txBody>
      </p:sp>
      <p:sp>
        <p:nvSpPr>
          <p:cNvPr id="16" name="Rounded Rectangle 15"/>
          <p:cNvSpPr/>
          <p:nvPr/>
        </p:nvSpPr>
        <p:spPr>
          <a:xfrm>
            <a:off x="8046720" y="1691640"/>
            <a:ext cx="3200400" cy="137160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86900" y="1801368"/>
            <a:ext cx="320040" cy="320040"/>
          </a:xfrm>
          <a:prstGeom prst="ellipse">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3</a:t>
            </a:r>
          </a:p>
        </p:txBody>
      </p:sp>
      <p:sp>
        <p:nvSpPr>
          <p:cNvPr id="18" name="TextBox 17"/>
          <p:cNvSpPr txBox="1"/>
          <p:nvPr/>
        </p:nvSpPr>
        <p:spPr>
          <a:xfrm>
            <a:off x="8183880" y="2148840"/>
            <a:ext cx="2926080" cy="274320"/>
          </a:xfrm>
          <a:prstGeom prst="rect">
            <a:avLst/>
          </a:prstGeom>
          <a:noFill/>
        </p:spPr>
        <p:txBody>
          <a:bodyPr wrap="square">
            <a:spAutoFit/>
          </a:bodyPr>
          <a:lstStyle/>
          <a:p>
            <a:pPr algn="ctr">
              <a:defRPr sz="1500" b="1" i="0">
                <a:solidFill>
                  <a:srgbClr val="1A1A1A"/>
                </a:solidFill>
                <a:latin typeface="Segoe UI"/>
              </a:defRPr>
            </a:pPr>
            <a:r>
              <a:t>Structured Output</a:t>
            </a:r>
          </a:p>
        </p:txBody>
      </p:sp>
      <p:sp>
        <p:nvSpPr>
          <p:cNvPr id="19" name="TextBox 18"/>
          <p:cNvSpPr txBox="1"/>
          <p:nvPr/>
        </p:nvSpPr>
        <p:spPr>
          <a:xfrm>
            <a:off x="8183880" y="2423160"/>
            <a:ext cx="2926080" cy="548640"/>
          </a:xfrm>
          <a:prstGeom prst="rect">
            <a:avLst/>
          </a:prstGeom>
          <a:noFill/>
        </p:spPr>
        <p:txBody>
          <a:bodyPr wrap="square">
            <a:spAutoFit/>
          </a:bodyPr>
          <a:lstStyle/>
          <a:p>
            <a:pPr algn="ctr">
              <a:defRPr sz="1100" b="0" i="0">
                <a:solidFill>
                  <a:srgbClr val="555555"/>
                </a:solidFill>
                <a:latin typeface="Segoe UI"/>
              </a:defRPr>
            </a:pPr>
            <a:r>
              <a:t>Returns corrected text + a list of every change with a reason and confidence level</a:t>
            </a:r>
          </a:p>
        </p:txBody>
      </p:sp>
      <p:sp>
        <p:nvSpPr>
          <p:cNvPr id="20" name="Rounded Rectangle 19"/>
          <p:cNvSpPr/>
          <p:nvPr/>
        </p:nvSpPr>
        <p:spPr>
          <a:xfrm>
            <a:off x="548640" y="3291840"/>
            <a:ext cx="10789920" cy="640080"/>
          </a:xfrm>
          <a:prstGeom prst="roundRect">
            <a:avLst>
              <a:gd name="adj" fmla="val 5000"/>
            </a:avLst>
          </a:prstGeom>
          <a:solidFill>
            <a:srgbClr val="FFF8E1"/>
          </a:solidFill>
          <a:ln w="12700">
            <a:solidFill>
              <a:srgbClr val="F9A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364992"/>
            <a:ext cx="10424160" cy="493776"/>
          </a:xfrm>
          <a:prstGeom prst="rect">
            <a:avLst/>
          </a:prstGeom>
          <a:noFill/>
        </p:spPr>
        <p:txBody>
          <a:bodyPr wrap="square">
            <a:spAutoFit/>
          </a:bodyPr>
          <a:lstStyle/>
          <a:p>
            <a:pPr algn="l">
              <a:defRPr sz="1300" b="0" i="0">
                <a:solidFill>
                  <a:srgbClr val="1A1A1A"/>
                </a:solidFill>
                <a:latin typeface="Segoe UI"/>
              </a:defRPr>
            </a:pPr>
            <a:r>
              <a:rPr sz="1300" b="1">
                <a:solidFill>
                  <a:srgbClr val="E65100"/>
                </a:solidFill>
                <a:latin typeface="Segoe UI"/>
              </a:rPr>
              <a:t>Key: </a:t>
            </a:r>
            <a:r>
              <a:rPr sz="1300">
                <a:solidFill>
                  <a:srgbClr val="1A1A1A"/>
                </a:solidFill>
                <a:latin typeface="Segoe UI"/>
              </a:rPr>
              <a:t>Like handing a rough draft to the best copy editor in the building — except they work instantly and show you every red-pen mark with an explanation.</a:t>
            </a:r>
          </a:p>
        </p:txBody>
      </p:sp>
      <p:sp>
        <p:nvSpPr>
          <p:cNvPr id="22" name="Rounded Rectangle 21"/>
          <p:cNvSpPr/>
          <p:nvPr/>
        </p:nvSpPr>
        <p:spPr>
          <a:xfrm>
            <a:off x="700887" y="4297680"/>
            <a:ext cx="3291840" cy="128016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3767" y="4526280"/>
            <a:ext cx="2926080" cy="274320"/>
          </a:xfrm>
          <a:prstGeom prst="rect">
            <a:avLst/>
          </a:prstGeom>
          <a:noFill/>
        </p:spPr>
        <p:txBody>
          <a:bodyPr wrap="square">
            <a:spAutoFit/>
          </a:bodyPr>
          <a:lstStyle/>
          <a:p>
            <a:pPr algn="ctr">
              <a:defRPr sz="1500" b="1" i="0">
                <a:solidFill>
                  <a:srgbClr val="1A1A1A"/>
                </a:solidFill>
                <a:latin typeface="Segoe UI"/>
              </a:defRPr>
            </a:pPr>
            <a:r>
              <a:t>Nothing Stored</a:t>
            </a:r>
          </a:p>
        </p:txBody>
      </p:sp>
      <p:sp>
        <p:nvSpPr>
          <p:cNvPr id="24" name="TextBox 23"/>
          <p:cNvSpPr txBox="1"/>
          <p:nvPr/>
        </p:nvSpPr>
        <p:spPr>
          <a:xfrm>
            <a:off x="883767" y="4846320"/>
            <a:ext cx="2926080" cy="640080"/>
          </a:xfrm>
          <a:prstGeom prst="rect">
            <a:avLst/>
          </a:prstGeom>
          <a:noFill/>
        </p:spPr>
        <p:txBody>
          <a:bodyPr wrap="square">
            <a:spAutoFit/>
          </a:bodyPr>
          <a:lstStyle/>
          <a:p>
            <a:pPr algn="ctr">
              <a:defRPr sz="1100" b="0" i="0">
                <a:solidFill>
                  <a:srgbClr val="555555"/>
                </a:solidFill>
                <a:latin typeface="Segoe UI"/>
              </a:defRPr>
            </a:pPr>
            <a:r>
              <a:t>Text in, clean text out.</a:t>
            </a:r>
            <a:br/>
            <a:r>
              <a:t>No data touches the database.</a:t>
            </a:r>
          </a:p>
        </p:txBody>
      </p:sp>
      <p:sp>
        <p:nvSpPr>
          <p:cNvPr id="25" name="Rounded Rectangle 24"/>
          <p:cNvSpPr/>
          <p:nvPr/>
        </p:nvSpPr>
        <p:spPr>
          <a:xfrm>
            <a:off x="4449927" y="4297680"/>
            <a:ext cx="3291840" cy="128016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32807" y="4526280"/>
            <a:ext cx="2926080" cy="274320"/>
          </a:xfrm>
          <a:prstGeom prst="rect">
            <a:avLst/>
          </a:prstGeom>
          <a:noFill/>
        </p:spPr>
        <p:txBody>
          <a:bodyPr wrap="square">
            <a:spAutoFit/>
          </a:bodyPr>
          <a:lstStyle/>
          <a:p>
            <a:pPr algn="ctr">
              <a:defRPr sz="1500" b="1" i="0">
                <a:solidFill>
                  <a:srgbClr val="1A1A1A"/>
                </a:solidFill>
                <a:latin typeface="Segoe UI"/>
              </a:defRPr>
            </a:pPr>
            <a:r>
              <a:t>~$120–195/mo</a:t>
            </a:r>
          </a:p>
        </p:txBody>
      </p:sp>
      <p:sp>
        <p:nvSpPr>
          <p:cNvPr id="27" name="TextBox 26"/>
          <p:cNvSpPr txBox="1"/>
          <p:nvPr/>
        </p:nvSpPr>
        <p:spPr>
          <a:xfrm>
            <a:off x="4632807" y="4846320"/>
            <a:ext cx="2926080" cy="640080"/>
          </a:xfrm>
          <a:prstGeom prst="rect">
            <a:avLst/>
          </a:prstGeom>
          <a:noFill/>
        </p:spPr>
        <p:txBody>
          <a:bodyPr wrap="square">
            <a:spAutoFit/>
          </a:bodyPr>
          <a:lstStyle/>
          <a:p>
            <a:pPr algn="ctr">
              <a:defRPr sz="1100" b="0" i="0">
                <a:solidFill>
                  <a:srgbClr val="555555"/>
                </a:solidFill>
                <a:latin typeface="Segoe UI"/>
              </a:defRPr>
            </a:pPr>
            <a:r>
              <a:t>Total platform cost.</a:t>
            </a:r>
            <a:br/>
            <a:r>
              <a:t>Serverless — scales to zero when idle.</a:t>
            </a:r>
          </a:p>
        </p:txBody>
      </p:sp>
      <p:sp>
        <p:nvSpPr>
          <p:cNvPr id="28" name="Rounded Rectangle 27"/>
          <p:cNvSpPr/>
          <p:nvPr/>
        </p:nvSpPr>
        <p:spPr>
          <a:xfrm>
            <a:off x="8198967" y="4297680"/>
            <a:ext cx="3291840" cy="1280160"/>
          </a:xfrm>
          <a:prstGeom prst="roundRect">
            <a:avLst>
              <a:gd name="adj" fmla="val 5000"/>
            </a:avLst>
          </a:prstGeom>
          <a:solidFill>
            <a:srgbClr val="FAFA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81847" y="4526280"/>
            <a:ext cx="2926080" cy="274320"/>
          </a:xfrm>
          <a:prstGeom prst="rect">
            <a:avLst/>
          </a:prstGeom>
          <a:noFill/>
        </p:spPr>
        <p:txBody>
          <a:bodyPr wrap="square">
            <a:spAutoFit/>
          </a:bodyPr>
          <a:lstStyle/>
          <a:p>
            <a:pPr algn="ctr">
              <a:defRPr sz="1500" b="1" i="0">
                <a:solidFill>
                  <a:srgbClr val="1A1A1A"/>
                </a:solidFill>
                <a:latin typeface="Segoe UI"/>
              </a:defRPr>
            </a:pPr>
            <a:r>
              <a:t>Zero Passwords in Code</a:t>
            </a:r>
          </a:p>
        </p:txBody>
      </p:sp>
      <p:sp>
        <p:nvSpPr>
          <p:cNvPr id="30" name="TextBox 29"/>
          <p:cNvSpPr txBox="1"/>
          <p:nvPr/>
        </p:nvSpPr>
        <p:spPr>
          <a:xfrm>
            <a:off x="8381847" y="4846320"/>
            <a:ext cx="2926080" cy="640080"/>
          </a:xfrm>
          <a:prstGeom prst="rect">
            <a:avLst/>
          </a:prstGeom>
          <a:noFill/>
        </p:spPr>
        <p:txBody>
          <a:bodyPr wrap="square">
            <a:spAutoFit/>
          </a:bodyPr>
          <a:lstStyle/>
          <a:p>
            <a:pPr algn="ctr">
              <a:defRPr sz="1100" b="0" i="0">
                <a:solidFill>
                  <a:srgbClr val="555555"/>
                </a:solidFill>
                <a:latin typeface="Segoe UI"/>
              </a:defRPr>
            </a:pPr>
            <a:r>
              <a:t>Managed identity everywhere.</a:t>
            </a:r>
            <a:br/>
            <a:r>
              <a:t>Data stays in the state's Azure tenant.</a:t>
            </a:r>
          </a:p>
        </p:txBody>
      </p:sp>
      <p:sp>
        <p:nvSpPr>
          <p:cNvPr id="31" name="TextBox 30"/>
          <p:cNvSpPr txBox="1"/>
          <p:nvPr/>
        </p:nvSpPr>
        <p:spPr>
          <a:xfrm>
            <a:off x="548640" y="6446520"/>
            <a:ext cx="4572000" cy="274320"/>
          </a:xfrm>
          <a:prstGeom prst="rect">
            <a:avLst/>
          </a:prstGeom>
          <a:noFill/>
        </p:spPr>
        <p:txBody>
          <a:bodyPr wrap="square">
            <a:spAutoFit/>
          </a:bodyPr>
          <a:lstStyle/>
          <a:p>
            <a:pPr algn="l">
              <a:defRPr sz="900" b="0" i="0">
                <a:solidFill>
                  <a:srgbClr val="BBBBBB"/>
                </a:solidFill>
                <a:latin typeface="Segoe UI"/>
              </a:defRPr>
            </a:pPr>
            <a:r>
              <a:t>NC DIT AI Office</a:t>
            </a:r>
          </a:p>
        </p:txBody>
      </p:sp>
      <p:sp>
        <p:nvSpPr>
          <p:cNvPr id="32" name="TextBox 31"/>
          <p:cNvSpPr txBox="1"/>
          <p:nvPr/>
        </p:nvSpPr>
        <p:spPr>
          <a:xfrm>
            <a:off x="6858000" y="6446520"/>
            <a:ext cx="4572000" cy="274320"/>
          </a:xfrm>
          <a:prstGeom prst="rect">
            <a:avLst/>
          </a:prstGeom>
          <a:noFill/>
        </p:spPr>
        <p:txBody>
          <a:bodyPr wrap="square">
            <a:spAutoFit/>
          </a:bodyPr>
          <a:lstStyle/>
          <a:p>
            <a:pPr algn="r">
              <a:defRPr sz="900" b="0" i="0">
                <a:solidFill>
                  <a:srgbClr val="BBBBBB"/>
                </a:solidFill>
                <a:latin typeface="Segoe UI"/>
              </a:defRPr>
            </a:pPr>
            <a:r>
              <a:t>5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