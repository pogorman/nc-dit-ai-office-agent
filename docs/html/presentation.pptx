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2463"/>
        </a:solidFill>
        <a:effectLst/>
      </p:bgPr>
    </p:bg>
    <p:spTree>
      <p:nvGrpSpPr>
        <p:cNvPr id="1" name=""/>
        <p:cNvGrpSpPr/>
        <p:nvPr/>
      </p:nvGrpSpPr>
      <p:grpSpPr/>
      <p:sp>
        <p:nvSpPr>
          <p:cNvPr id="2" name="TextBox 1"/>
          <p:cNvSpPr txBox="1"/>
          <p:nvPr/>
        </p:nvSpPr>
        <p:spPr>
          <a:xfrm>
            <a:off x="914400" y="1645920"/>
            <a:ext cx="10332720" cy="1280160"/>
          </a:xfrm>
          <a:prstGeom prst="rect">
            <a:avLst/>
          </a:prstGeom>
          <a:noFill/>
        </p:spPr>
        <p:txBody>
          <a:bodyPr wrap="square">
            <a:spAutoFit/>
          </a:bodyPr>
          <a:lstStyle/>
          <a:p>
            <a:pPr algn="ctr">
              <a:defRPr sz="4800" b="1" i="0">
                <a:solidFill>
                  <a:srgbClr val="FFFFFF"/>
                </a:solidFill>
                <a:latin typeface="Segoe UI"/>
              </a:defRPr>
            </a:pPr>
            <a:r>
              <a:t>NC Governor's</a:t>
            </a:r>
            <a:br/>
            <a:r>
              <a:t>Communications Agent</a:t>
            </a:r>
          </a:p>
        </p:txBody>
      </p:sp>
      <p:sp>
        <p:nvSpPr>
          <p:cNvPr id="3" name="TextBox 2"/>
          <p:cNvSpPr txBox="1"/>
          <p:nvPr/>
        </p:nvSpPr>
        <p:spPr>
          <a:xfrm>
            <a:off x="1371600" y="3200400"/>
            <a:ext cx="9418320" cy="731520"/>
          </a:xfrm>
          <a:prstGeom prst="rect">
            <a:avLst/>
          </a:prstGeom>
          <a:noFill/>
        </p:spPr>
        <p:txBody>
          <a:bodyPr wrap="square">
            <a:spAutoFit/>
          </a:bodyPr>
          <a:lstStyle/>
          <a:p>
            <a:pPr algn="ctr">
              <a:defRPr sz="2200" b="0" i="0">
                <a:solidFill>
                  <a:srgbClr val="BBCCFF"/>
                </a:solidFill>
                <a:latin typeface="Segoe UI"/>
              </a:defRPr>
            </a:pPr>
            <a:r>
              <a:t>AI-powered news monitoring, remarks search, and transcript proofreading</a:t>
            </a:r>
            <a:br/>
            <a:r>
              <a:t>for the Governor's Communications Office</a:t>
            </a:r>
          </a:p>
        </p:txBody>
      </p:sp>
      <p:sp>
        <p:nvSpPr>
          <p:cNvPr id="4" name="TextBox 3"/>
          <p:cNvSpPr txBox="1"/>
          <p:nvPr/>
        </p:nvSpPr>
        <p:spPr>
          <a:xfrm>
            <a:off x="914400" y="4297680"/>
            <a:ext cx="10332720" cy="365760"/>
          </a:xfrm>
          <a:prstGeom prst="rect">
            <a:avLst/>
          </a:prstGeom>
          <a:noFill/>
        </p:spPr>
        <p:txBody>
          <a:bodyPr wrap="square">
            <a:spAutoFit/>
          </a:bodyPr>
          <a:lstStyle/>
          <a:p>
            <a:pPr algn="ctr">
              <a:defRPr sz="1400" b="0" i="0">
                <a:solidFill>
                  <a:srgbClr val="8899BB"/>
                </a:solidFill>
                <a:latin typeface="Segoe UI"/>
              </a:defRPr>
            </a:pPr>
            <a:r>
              <a:t>NC DIT AI Office  ·  Microsoft Azure  ·  Copilot Studio</a:t>
            </a:r>
          </a:p>
        </p:txBody>
      </p:sp>
      <p:sp>
        <p:nvSpPr>
          <p:cNvPr id="5" name="TextBox 4"/>
          <p:cNvSpPr txBox="1"/>
          <p:nvPr/>
        </p:nvSpPr>
        <p:spPr>
          <a:xfrm>
            <a:off x="914400" y="4846320"/>
            <a:ext cx="10332720" cy="365760"/>
          </a:xfrm>
          <a:prstGeom prst="rect">
            <a:avLst/>
          </a:prstGeom>
          <a:noFill/>
        </p:spPr>
        <p:txBody>
          <a:bodyPr wrap="square">
            <a:spAutoFit/>
          </a:bodyPr>
          <a:lstStyle/>
          <a:p>
            <a:pPr algn="ctr">
              <a:defRPr sz="1400" b="0" i="0">
                <a:solidFill>
                  <a:srgbClr val="7788AA"/>
                </a:solidFill>
                <a:latin typeface="Segoe UI"/>
              </a:defRPr>
            </a:pPr>
            <a:r>
              <a:t>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640080"/>
          </a:xfrm>
          <a:prstGeom prst="rect">
            <a:avLst/>
          </a:prstGeom>
          <a:noFill/>
        </p:spPr>
        <p:txBody>
          <a:bodyPr wrap="square">
            <a:spAutoFit/>
          </a:bodyPr>
          <a:lstStyle/>
          <a:p>
            <a:pPr algn="l">
              <a:defRPr sz="3400" b="1" i="0">
                <a:solidFill>
                  <a:srgbClr val="0A2463"/>
                </a:solidFill>
                <a:latin typeface="Segoe UI"/>
              </a:defRPr>
            </a:pPr>
            <a:r>
              <a:t>What the Comms Office Asked For</a:t>
            </a:r>
          </a:p>
        </p:txBody>
      </p:sp>
      <p:sp>
        <p:nvSpPr>
          <p:cNvPr id="3" name="Rounded Rectangle 2"/>
          <p:cNvSpPr/>
          <p:nvPr/>
        </p:nvSpPr>
        <p:spPr>
          <a:xfrm>
            <a:off x="548640" y="1188720"/>
            <a:ext cx="11064240" cy="1371600"/>
          </a:xfrm>
          <a:prstGeom prst="roundRect">
            <a:avLst>
              <a:gd name="adj" fmla="val 5000"/>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188720"/>
            <a:ext cx="73152" cy="1371600"/>
          </a:xfrm>
          <a:prstGeom prst="rect">
            <a:avLst/>
          </a:prstGeom>
          <a:solidFill>
            <a:srgbClr val="0A24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280160"/>
            <a:ext cx="10058400" cy="274320"/>
          </a:xfrm>
          <a:prstGeom prst="rect">
            <a:avLst/>
          </a:prstGeom>
          <a:noFill/>
        </p:spPr>
        <p:txBody>
          <a:bodyPr wrap="square">
            <a:spAutoFit/>
          </a:bodyPr>
          <a:lstStyle/>
          <a:p>
            <a:pPr algn="l">
              <a:defRPr sz="1100" b="1" i="0">
                <a:solidFill>
                  <a:srgbClr val="0A2463"/>
                </a:solidFill>
                <a:latin typeface="Segoe UI"/>
              </a:defRPr>
            </a:pPr>
            <a:r>
              <a:t>REQUEST 1 — NEWS CLIPS</a:t>
            </a:r>
          </a:p>
        </p:txBody>
      </p:sp>
      <p:sp>
        <p:nvSpPr>
          <p:cNvPr id="6" name="TextBox 5"/>
          <p:cNvSpPr txBox="1"/>
          <p:nvPr/>
        </p:nvSpPr>
        <p:spPr>
          <a:xfrm>
            <a:off x="868680" y="1554480"/>
            <a:ext cx="10515600" cy="822960"/>
          </a:xfrm>
          <a:prstGeom prst="rect">
            <a:avLst/>
          </a:prstGeom>
          <a:noFill/>
        </p:spPr>
        <p:txBody>
          <a:bodyPr wrap="square">
            <a:spAutoFit/>
          </a:bodyPr>
          <a:lstStyle/>
          <a:p>
            <a:pPr algn="l">
              <a:defRPr sz="1600" b="0" i="1">
                <a:solidFill>
                  <a:srgbClr val="333333"/>
                </a:solidFill>
                <a:latin typeface="Segoe UI"/>
              </a:defRPr>
            </a:pPr>
            <a:r>
              <a:t>“How could we automate the process of identifying mentions of Governor Stein in the news and collecting the outlet, title, first paragraph, and first mention of Governor Stein in the article?”</a:t>
            </a:r>
          </a:p>
        </p:txBody>
      </p:sp>
      <p:sp>
        <p:nvSpPr>
          <p:cNvPr id="7" name="Rounded Rectangle 6"/>
          <p:cNvSpPr/>
          <p:nvPr/>
        </p:nvSpPr>
        <p:spPr>
          <a:xfrm>
            <a:off x="548640" y="2743200"/>
            <a:ext cx="11064240" cy="1005840"/>
          </a:xfrm>
          <a:prstGeom prst="roundRect">
            <a:avLst>
              <a:gd name="adj" fmla="val 5000"/>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743200"/>
            <a:ext cx="73152" cy="1005840"/>
          </a:xfrm>
          <a:prstGeom prst="rect">
            <a:avLst/>
          </a:prstGeom>
          <a:solidFill>
            <a:srgbClr val="0A24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34640"/>
            <a:ext cx="10058400" cy="274320"/>
          </a:xfrm>
          <a:prstGeom prst="rect">
            <a:avLst/>
          </a:prstGeom>
          <a:noFill/>
        </p:spPr>
        <p:txBody>
          <a:bodyPr wrap="square">
            <a:spAutoFit/>
          </a:bodyPr>
          <a:lstStyle/>
          <a:p>
            <a:pPr algn="l">
              <a:defRPr sz="1100" b="1" i="0">
                <a:solidFill>
                  <a:srgbClr val="0A2463"/>
                </a:solidFill>
                <a:latin typeface="Segoe UI"/>
              </a:defRPr>
            </a:pPr>
            <a:r>
              <a:t>REQUEST 2 — PROOFREADING</a:t>
            </a:r>
          </a:p>
        </p:txBody>
      </p:sp>
      <p:sp>
        <p:nvSpPr>
          <p:cNvPr id="10" name="TextBox 9"/>
          <p:cNvSpPr txBox="1"/>
          <p:nvPr/>
        </p:nvSpPr>
        <p:spPr>
          <a:xfrm>
            <a:off x="868680" y="3108960"/>
            <a:ext cx="10515600" cy="548640"/>
          </a:xfrm>
          <a:prstGeom prst="rect">
            <a:avLst/>
          </a:prstGeom>
          <a:noFill/>
        </p:spPr>
        <p:txBody>
          <a:bodyPr wrap="square">
            <a:spAutoFit/>
          </a:bodyPr>
          <a:lstStyle/>
          <a:p>
            <a:pPr algn="l">
              <a:defRPr sz="1600" b="0" i="1">
                <a:solidFill>
                  <a:srgbClr val="333333"/>
                </a:solidFill>
                <a:latin typeface="Segoe UI"/>
              </a:defRPr>
            </a:pPr>
            <a:r>
              <a:t>“Is there a way to use AI for proofreading of faulty transcripts?”</a:t>
            </a:r>
          </a:p>
        </p:txBody>
      </p:sp>
      <p:sp>
        <p:nvSpPr>
          <p:cNvPr id="11" name="Rounded Rectangle 10"/>
          <p:cNvSpPr/>
          <p:nvPr/>
        </p:nvSpPr>
        <p:spPr>
          <a:xfrm>
            <a:off x="548640" y="3931920"/>
            <a:ext cx="11064240" cy="1371600"/>
          </a:xfrm>
          <a:prstGeom prst="roundRect">
            <a:avLst>
              <a:gd name="adj" fmla="val 5000"/>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31920"/>
            <a:ext cx="73152" cy="1371600"/>
          </a:xfrm>
          <a:prstGeom prst="rect">
            <a:avLst/>
          </a:prstGeom>
          <a:solidFill>
            <a:srgbClr val="0A24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023360"/>
            <a:ext cx="10058400" cy="274320"/>
          </a:xfrm>
          <a:prstGeom prst="rect">
            <a:avLst/>
          </a:prstGeom>
          <a:noFill/>
        </p:spPr>
        <p:txBody>
          <a:bodyPr wrap="square">
            <a:spAutoFit/>
          </a:bodyPr>
          <a:lstStyle/>
          <a:p>
            <a:pPr algn="l">
              <a:defRPr sz="1100" b="1" i="0">
                <a:solidFill>
                  <a:srgbClr val="0A2463"/>
                </a:solidFill>
                <a:latin typeface="Segoe UI"/>
              </a:defRPr>
            </a:pPr>
            <a:r>
              <a:t>REQUEST 3 — REMARKS</a:t>
            </a:r>
          </a:p>
        </p:txBody>
      </p:sp>
      <p:sp>
        <p:nvSpPr>
          <p:cNvPr id="14" name="TextBox 13"/>
          <p:cNvSpPr txBox="1"/>
          <p:nvPr/>
        </p:nvSpPr>
        <p:spPr>
          <a:xfrm>
            <a:off x="868680" y="4297680"/>
            <a:ext cx="10515600" cy="822960"/>
          </a:xfrm>
          <a:prstGeom prst="rect">
            <a:avLst/>
          </a:prstGeom>
          <a:noFill/>
        </p:spPr>
        <p:txBody>
          <a:bodyPr wrap="square">
            <a:spAutoFit/>
          </a:bodyPr>
          <a:lstStyle/>
          <a:p>
            <a:pPr algn="l">
              <a:defRPr sz="1600" b="0" i="1">
                <a:solidFill>
                  <a:srgbClr val="333333"/>
                </a:solidFill>
                <a:latin typeface="Segoe UI"/>
              </a:defRPr>
            </a:pPr>
            <a:r>
              <a:t>“How could we create a useful search + retrieval function for existing language on a given topic? For example, what is the language we’ve used to talk about clean tech across a variety of remarks?”</a:t>
            </a:r>
          </a:p>
        </p:txBody>
      </p:sp>
      <p:sp>
        <p:nvSpPr>
          <p:cNvPr id="15" name="Rounded Rectangle 14"/>
          <p:cNvSpPr/>
          <p:nvPr/>
        </p:nvSpPr>
        <p:spPr>
          <a:xfrm>
            <a:off x="548640" y="5669280"/>
            <a:ext cx="6858000" cy="64008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715000"/>
            <a:ext cx="6492240" cy="548640"/>
          </a:xfrm>
          <a:prstGeom prst="rect">
            <a:avLst/>
          </a:prstGeom>
          <a:noFill/>
        </p:spPr>
        <p:txBody>
          <a:bodyPr wrap="square">
            <a:spAutoFit/>
          </a:bodyPr>
          <a:lstStyle/>
          <a:p>
            <a:pPr algn="l">
              <a:defRPr sz="1800" b="1" i="0">
                <a:solidFill>
                  <a:srgbClr val="FFFFFF"/>
                </a:solidFill>
                <a:latin typeface="Segoe UI"/>
              </a:defRPr>
            </a:pPr>
            <a:r>
              <a:t>✓  All three capabilities — built, deployed, and live in Teams</a:t>
            </a:r>
          </a:p>
        </p:txBody>
      </p:sp>
      <p:sp>
        <p:nvSpPr>
          <p:cNvPr id="17" name="TextBox 16"/>
          <p:cNvSpPr txBox="1"/>
          <p:nvPr/>
        </p:nvSpPr>
        <p:spPr>
          <a:xfrm>
            <a:off x="548640" y="6446520"/>
            <a:ext cx="4572000" cy="274320"/>
          </a:xfrm>
          <a:prstGeom prst="rect">
            <a:avLst/>
          </a:prstGeom>
          <a:noFill/>
        </p:spPr>
        <p:txBody>
          <a:bodyPr wrap="square">
            <a:spAutoFit/>
          </a:bodyPr>
          <a:lstStyle/>
          <a:p>
            <a:pPr algn="l">
              <a:defRPr sz="900" b="0" i="0">
                <a:solidFill>
                  <a:srgbClr val="BBBBBB"/>
                </a:solidFill>
                <a:latin typeface="Segoe UI"/>
              </a:defRPr>
            </a:pPr>
            <a:r>
              <a:t>NC DIT AI Office</a:t>
            </a:r>
          </a:p>
        </p:txBody>
      </p:sp>
      <p:sp>
        <p:nvSpPr>
          <p:cNvPr id="18" name="TextBox 17"/>
          <p:cNvSpPr txBox="1"/>
          <p:nvPr/>
        </p:nvSpPr>
        <p:spPr>
          <a:xfrm>
            <a:off x="6858000" y="6446520"/>
            <a:ext cx="4572000" cy="274320"/>
          </a:xfrm>
          <a:prstGeom prst="rect">
            <a:avLst/>
          </a:prstGeom>
          <a:noFill/>
        </p:spPr>
        <p:txBody>
          <a:bodyPr wrap="square">
            <a:spAutoFit/>
          </a:bodyPr>
          <a:lstStyle/>
          <a:p>
            <a:pPr algn="r">
              <a:defRPr sz="900" b="0" i="0">
                <a:solidFill>
                  <a:srgbClr val="BBBBBB"/>
                </a:solidFill>
                <a:latin typeface="Segoe UI"/>
              </a:defRPr>
            </a:pPr>
            <a:r>
              <a:t>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3200" b="1" i="0">
                <a:solidFill>
                  <a:srgbClr val="FFFFFF"/>
                </a:solidFill>
                <a:latin typeface="Segoe UI"/>
              </a:defRPr>
            </a:pPr>
            <a:r>
              <a:t>News Clips</a:t>
            </a:r>
          </a:p>
        </p:txBody>
      </p:sp>
      <p:sp>
        <p:nvSpPr>
          <p:cNvPr id="4" name="TextBox 3"/>
          <p:cNvSpPr txBox="1"/>
          <p:nvPr/>
        </p:nvSpPr>
        <p:spPr>
          <a:xfrm>
            <a:off x="548640" y="594360"/>
            <a:ext cx="10058400" cy="365760"/>
          </a:xfrm>
          <a:prstGeom prst="rect">
            <a:avLst/>
          </a:prstGeom>
          <a:noFill/>
        </p:spPr>
        <p:txBody>
          <a:bodyPr wrap="square">
            <a:spAutoFit/>
          </a:bodyPr>
          <a:lstStyle/>
          <a:p>
            <a:pPr algn="l">
              <a:defRPr sz="1500" b="0" i="0">
                <a:solidFill>
                  <a:srgbClr val="DDEEFF"/>
                </a:solidFill>
                <a:latin typeface="Segoe UI"/>
              </a:defRPr>
            </a:pPr>
            <a:r>
              <a:t>Monitors 20+ news outlets and Governor press releases, then lets staff search or browse them instantly.</a:t>
            </a:r>
          </a:p>
        </p:txBody>
      </p:sp>
      <p:sp>
        <p:nvSpPr>
          <p:cNvPr id="5" name="TextBox 4"/>
          <p:cNvSpPr txBox="1"/>
          <p:nvPr/>
        </p:nvSpPr>
        <p:spPr>
          <a:xfrm>
            <a:off x="548640" y="1325880"/>
            <a:ext cx="9144000" cy="274320"/>
          </a:xfrm>
          <a:prstGeom prst="rect">
            <a:avLst/>
          </a:prstGeom>
          <a:noFill/>
        </p:spPr>
        <p:txBody>
          <a:bodyPr wrap="square">
            <a:spAutoFit/>
          </a:bodyPr>
          <a:lstStyle/>
          <a:p>
            <a:pPr algn="l">
              <a:defRPr sz="1000" b="1" i="0">
                <a:solidFill>
                  <a:srgbClr val="888888"/>
                </a:solidFill>
                <a:latin typeface="Segoe UI"/>
              </a:defRPr>
            </a:pPr>
            <a:r>
              <a:t>HOW DATA GETS IN — RUNS DAILY AT 7 AM</a:t>
            </a:r>
          </a:p>
        </p:txBody>
      </p:sp>
      <p:sp>
        <p:nvSpPr>
          <p:cNvPr id="6" name="Rounded Rectangle 5"/>
          <p:cNvSpPr/>
          <p:nvPr/>
        </p:nvSpPr>
        <p:spPr>
          <a:xfrm>
            <a:off x="54864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88820" y="1801368"/>
            <a:ext cx="320040" cy="3200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1</a:t>
            </a:r>
          </a:p>
        </p:txBody>
      </p:sp>
      <p:sp>
        <p:nvSpPr>
          <p:cNvPr id="8" name="TextBox 7"/>
          <p:cNvSpPr txBox="1"/>
          <p:nvPr/>
        </p:nvSpPr>
        <p:spPr>
          <a:xfrm>
            <a:off x="685800" y="2148840"/>
            <a:ext cx="2926080" cy="274320"/>
          </a:xfrm>
          <a:prstGeom prst="rect">
            <a:avLst/>
          </a:prstGeom>
          <a:noFill/>
        </p:spPr>
        <p:txBody>
          <a:bodyPr wrap="square">
            <a:spAutoFit/>
          </a:bodyPr>
          <a:lstStyle/>
          <a:p>
            <a:pPr algn="ctr">
              <a:defRPr sz="1500" b="1" i="0">
                <a:solidFill>
                  <a:srgbClr val="1A1A1A"/>
                </a:solidFill>
                <a:latin typeface="Segoe UI"/>
              </a:defRPr>
            </a:pPr>
            <a:r>
              <a:t>Scrape + Search</a:t>
            </a:r>
          </a:p>
        </p:txBody>
      </p:sp>
      <p:sp>
        <p:nvSpPr>
          <p:cNvPr id="9" name="TextBox 8"/>
          <p:cNvSpPr txBox="1"/>
          <p:nvPr/>
        </p:nvSpPr>
        <p:spPr>
          <a:xfrm>
            <a:off x="685800" y="2423160"/>
            <a:ext cx="2926080" cy="548640"/>
          </a:xfrm>
          <a:prstGeom prst="rect">
            <a:avLst/>
          </a:prstGeom>
          <a:noFill/>
        </p:spPr>
        <p:txBody>
          <a:bodyPr wrap="square">
            <a:spAutoFit/>
          </a:bodyPr>
          <a:lstStyle/>
          <a:p>
            <a:pPr algn="ctr">
              <a:defRPr sz="1100" b="0" i="0">
                <a:solidFill>
                  <a:srgbClr val="555555"/>
                </a:solidFill>
                <a:latin typeface="Segoe UI"/>
              </a:defRPr>
            </a:pPr>
            <a:r>
              <a:t>Azure Function scrapes governor.nc.gov AND searches the web via Azure OpenAI + Bing grounding (WRAL, AP, 20+ outlets)</a:t>
            </a:r>
          </a:p>
        </p:txBody>
      </p:sp>
      <p:sp>
        <p:nvSpPr>
          <p:cNvPr id="10" name="TextBox 9"/>
          <p:cNvSpPr txBox="1"/>
          <p:nvPr/>
        </p:nvSpPr>
        <p:spPr>
          <a:xfrm>
            <a:off x="3749040" y="219456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11" name="Rounded Rectangle 10"/>
          <p:cNvSpPr/>
          <p:nvPr/>
        </p:nvSpPr>
        <p:spPr>
          <a:xfrm>
            <a:off x="429768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737860" y="1801368"/>
            <a:ext cx="320040" cy="3200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2</a:t>
            </a:r>
          </a:p>
        </p:txBody>
      </p:sp>
      <p:sp>
        <p:nvSpPr>
          <p:cNvPr id="13" name="TextBox 12"/>
          <p:cNvSpPr txBox="1"/>
          <p:nvPr/>
        </p:nvSpPr>
        <p:spPr>
          <a:xfrm>
            <a:off x="4434840" y="2148840"/>
            <a:ext cx="2926080" cy="274320"/>
          </a:xfrm>
          <a:prstGeom prst="rect">
            <a:avLst/>
          </a:prstGeom>
          <a:noFill/>
        </p:spPr>
        <p:txBody>
          <a:bodyPr wrap="square">
            <a:spAutoFit/>
          </a:bodyPr>
          <a:lstStyle/>
          <a:p>
            <a:pPr algn="ctr">
              <a:defRPr sz="1500" b="1" i="0">
                <a:solidFill>
                  <a:srgbClr val="1A1A1A"/>
                </a:solidFill>
                <a:latin typeface="Segoe UI"/>
              </a:defRPr>
            </a:pPr>
            <a:r>
              <a:t>Embed</a:t>
            </a:r>
          </a:p>
        </p:txBody>
      </p:sp>
      <p:sp>
        <p:nvSpPr>
          <p:cNvPr id="14" name="TextBox 13"/>
          <p:cNvSpPr txBox="1"/>
          <p:nvPr/>
        </p:nvSpPr>
        <p:spPr>
          <a:xfrm>
            <a:off x="4434840" y="2423160"/>
            <a:ext cx="2926080" cy="548640"/>
          </a:xfrm>
          <a:prstGeom prst="rect">
            <a:avLst/>
          </a:prstGeom>
          <a:noFill/>
        </p:spPr>
        <p:txBody>
          <a:bodyPr wrap="square">
            <a:spAutoFit/>
          </a:bodyPr>
          <a:lstStyle/>
          <a:p>
            <a:pPr algn="ctr">
              <a:defRPr sz="1100" b="0" i="0">
                <a:solidFill>
                  <a:srgbClr val="555555"/>
                </a:solidFill>
                <a:latin typeface="Segoe UI"/>
              </a:defRPr>
            </a:pPr>
            <a:r>
              <a:t>Azure OpenAI converts each article into a vector embedding — a numeric fingerprint of its meaning</a:t>
            </a:r>
          </a:p>
        </p:txBody>
      </p:sp>
      <p:sp>
        <p:nvSpPr>
          <p:cNvPr id="15" name="TextBox 14"/>
          <p:cNvSpPr txBox="1"/>
          <p:nvPr/>
        </p:nvSpPr>
        <p:spPr>
          <a:xfrm>
            <a:off x="7498080" y="219456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16" name="Rounded Rectangle 15"/>
          <p:cNvSpPr/>
          <p:nvPr/>
        </p:nvSpPr>
        <p:spPr>
          <a:xfrm>
            <a:off x="804672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86900" y="1801368"/>
            <a:ext cx="320040" cy="3200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3</a:t>
            </a:r>
          </a:p>
        </p:txBody>
      </p:sp>
      <p:sp>
        <p:nvSpPr>
          <p:cNvPr id="18" name="TextBox 17"/>
          <p:cNvSpPr txBox="1"/>
          <p:nvPr/>
        </p:nvSpPr>
        <p:spPr>
          <a:xfrm>
            <a:off x="8183880" y="2148840"/>
            <a:ext cx="2926080" cy="274320"/>
          </a:xfrm>
          <a:prstGeom prst="rect">
            <a:avLst/>
          </a:prstGeom>
          <a:noFill/>
        </p:spPr>
        <p:txBody>
          <a:bodyPr wrap="square">
            <a:spAutoFit/>
          </a:bodyPr>
          <a:lstStyle/>
          <a:p>
            <a:pPr algn="ctr">
              <a:defRPr sz="1500" b="1" i="0">
                <a:solidFill>
                  <a:srgbClr val="1A1A1A"/>
                </a:solidFill>
                <a:latin typeface="Segoe UI"/>
              </a:defRPr>
            </a:pPr>
            <a:r>
              <a:t>Store + Index</a:t>
            </a:r>
          </a:p>
        </p:txBody>
      </p:sp>
      <p:sp>
        <p:nvSpPr>
          <p:cNvPr id="19" name="TextBox 18"/>
          <p:cNvSpPr txBox="1"/>
          <p:nvPr/>
        </p:nvSpPr>
        <p:spPr>
          <a:xfrm>
            <a:off x="8183880" y="2423160"/>
            <a:ext cx="2926080" cy="548640"/>
          </a:xfrm>
          <a:prstGeom prst="rect">
            <a:avLst/>
          </a:prstGeom>
          <a:noFill/>
        </p:spPr>
        <p:txBody>
          <a:bodyPr wrap="square">
            <a:spAutoFit/>
          </a:bodyPr>
          <a:lstStyle/>
          <a:p>
            <a:pPr algn="ctr">
              <a:defRPr sz="1100" b="0" i="0">
                <a:solidFill>
                  <a:srgbClr val="555555"/>
                </a:solidFill>
                <a:latin typeface="Segoe UI"/>
              </a:defRPr>
            </a:pPr>
            <a:r>
              <a:t>Article + embedding saved in Cosmos DB (browsing) and Azure AI Search (hybrid search)</a:t>
            </a:r>
          </a:p>
        </p:txBody>
      </p:sp>
      <p:sp>
        <p:nvSpPr>
          <p:cNvPr id="20" name="TextBox 19"/>
          <p:cNvSpPr txBox="1"/>
          <p:nvPr/>
        </p:nvSpPr>
        <p:spPr>
          <a:xfrm>
            <a:off x="548640" y="3291840"/>
            <a:ext cx="9144000" cy="274320"/>
          </a:xfrm>
          <a:prstGeom prst="rect">
            <a:avLst/>
          </a:prstGeom>
          <a:noFill/>
        </p:spPr>
        <p:txBody>
          <a:bodyPr wrap="square">
            <a:spAutoFit/>
          </a:bodyPr>
          <a:lstStyle/>
          <a:p>
            <a:pPr algn="l">
              <a:defRPr sz="1000" b="1" i="0">
                <a:solidFill>
                  <a:srgbClr val="888888"/>
                </a:solidFill>
                <a:latin typeface="Segoe UI"/>
              </a:defRPr>
            </a:pPr>
            <a:r>
              <a:t>HOW STAFF ASK — "WHAT'S IN THE NEWS ABOUT BROADBAND?"</a:t>
            </a:r>
          </a:p>
        </p:txBody>
      </p:sp>
      <p:sp>
        <p:nvSpPr>
          <p:cNvPr id="21" name="Rounded Rectangle 20"/>
          <p:cNvSpPr/>
          <p:nvPr/>
        </p:nvSpPr>
        <p:spPr>
          <a:xfrm>
            <a:off x="548640" y="361188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988820" y="3721608"/>
            <a:ext cx="320040" cy="3200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1</a:t>
            </a:r>
          </a:p>
        </p:txBody>
      </p:sp>
      <p:sp>
        <p:nvSpPr>
          <p:cNvPr id="23" name="TextBox 22"/>
          <p:cNvSpPr txBox="1"/>
          <p:nvPr/>
        </p:nvSpPr>
        <p:spPr>
          <a:xfrm>
            <a:off x="685800" y="4069080"/>
            <a:ext cx="2926080" cy="274320"/>
          </a:xfrm>
          <a:prstGeom prst="rect">
            <a:avLst/>
          </a:prstGeom>
          <a:noFill/>
        </p:spPr>
        <p:txBody>
          <a:bodyPr wrap="square">
            <a:spAutoFit/>
          </a:bodyPr>
          <a:lstStyle/>
          <a:p>
            <a:pPr algn="ctr">
              <a:defRPr sz="1500" b="1" i="0">
                <a:solidFill>
                  <a:srgbClr val="1A1A1A"/>
                </a:solidFill>
                <a:latin typeface="Segoe UI"/>
              </a:defRPr>
            </a:pPr>
            <a:r>
              <a:t>Ask in Teams</a:t>
            </a:r>
          </a:p>
        </p:txBody>
      </p:sp>
      <p:sp>
        <p:nvSpPr>
          <p:cNvPr id="24" name="TextBox 23"/>
          <p:cNvSpPr txBox="1"/>
          <p:nvPr/>
        </p:nvSpPr>
        <p:spPr>
          <a:xfrm>
            <a:off x="685800" y="4343400"/>
            <a:ext cx="2926080" cy="548640"/>
          </a:xfrm>
          <a:prstGeom prst="rect">
            <a:avLst/>
          </a:prstGeom>
          <a:noFill/>
        </p:spPr>
        <p:txBody>
          <a:bodyPr wrap="square">
            <a:spAutoFit/>
          </a:bodyPr>
          <a:lstStyle/>
          <a:p>
            <a:pPr algn="ctr">
              <a:defRPr sz="1100" b="0" i="0">
                <a:solidFill>
                  <a:srgbClr val="555555"/>
                </a:solidFill>
                <a:latin typeface="Segoe UI"/>
              </a:defRPr>
            </a:pPr>
            <a:r>
              <a:t>Staff types a question in the Copilot Studio chatbot</a:t>
            </a:r>
          </a:p>
        </p:txBody>
      </p:sp>
      <p:sp>
        <p:nvSpPr>
          <p:cNvPr id="25" name="TextBox 24"/>
          <p:cNvSpPr txBox="1"/>
          <p:nvPr/>
        </p:nvSpPr>
        <p:spPr>
          <a:xfrm>
            <a:off x="3749040" y="411480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26" name="Rounded Rectangle 25"/>
          <p:cNvSpPr/>
          <p:nvPr/>
        </p:nvSpPr>
        <p:spPr>
          <a:xfrm>
            <a:off x="4297680" y="361188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737860" y="3721608"/>
            <a:ext cx="320040" cy="3200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2</a:t>
            </a:r>
          </a:p>
        </p:txBody>
      </p:sp>
      <p:sp>
        <p:nvSpPr>
          <p:cNvPr id="28" name="TextBox 27"/>
          <p:cNvSpPr txBox="1"/>
          <p:nvPr/>
        </p:nvSpPr>
        <p:spPr>
          <a:xfrm>
            <a:off x="4434840" y="4069080"/>
            <a:ext cx="2926080" cy="274320"/>
          </a:xfrm>
          <a:prstGeom prst="rect">
            <a:avLst/>
          </a:prstGeom>
          <a:noFill/>
        </p:spPr>
        <p:txBody>
          <a:bodyPr wrap="square">
            <a:spAutoFit/>
          </a:bodyPr>
          <a:lstStyle/>
          <a:p>
            <a:pPr algn="ctr">
              <a:defRPr sz="1500" b="1" i="0">
                <a:solidFill>
                  <a:srgbClr val="1A1A1A"/>
                </a:solidFill>
                <a:latin typeface="Segoe UI"/>
              </a:defRPr>
            </a:pPr>
            <a:r>
              <a:t>Hybrid Search</a:t>
            </a:r>
          </a:p>
        </p:txBody>
      </p:sp>
      <p:sp>
        <p:nvSpPr>
          <p:cNvPr id="29" name="TextBox 28"/>
          <p:cNvSpPr txBox="1"/>
          <p:nvPr/>
        </p:nvSpPr>
        <p:spPr>
          <a:xfrm>
            <a:off x="4434840" y="4343400"/>
            <a:ext cx="2926080" cy="548640"/>
          </a:xfrm>
          <a:prstGeom prst="rect">
            <a:avLst/>
          </a:prstGeom>
          <a:noFill/>
        </p:spPr>
        <p:txBody>
          <a:bodyPr wrap="square">
            <a:spAutoFit/>
          </a:bodyPr>
          <a:lstStyle/>
          <a:p>
            <a:pPr algn="ctr">
              <a:defRPr sz="1100" b="0" i="0">
                <a:solidFill>
                  <a:srgbClr val="555555"/>
                </a:solidFill>
                <a:latin typeface="Segoe UI"/>
              </a:defRPr>
            </a:pPr>
            <a:r>
              <a:t>AI Search matches by meaning and keywords, then re-ranks with semantic ranker</a:t>
            </a:r>
          </a:p>
        </p:txBody>
      </p:sp>
      <p:sp>
        <p:nvSpPr>
          <p:cNvPr id="30" name="TextBox 29"/>
          <p:cNvSpPr txBox="1"/>
          <p:nvPr/>
        </p:nvSpPr>
        <p:spPr>
          <a:xfrm>
            <a:off x="7498080" y="411480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31" name="Rounded Rectangle 30"/>
          <p:cNvSpPr/>
          <p:nvPr/>
        </p:nvSpPr>
        <p:spPr>
          <a:xfrm>
            <a:off x="8046720" y="361188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486900" y="3721608"/>
            <a:ext cx="320040" cy="3200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3</a:t>
            </a:r>
          </a:p>
        </p:txBody>
      </p:sp>
      <p:sp>
        <p:nvSpPr>
          <p:cNvPr id="33" name="TextBox 32"/>
          <p:cNvSpPr txBox="1"/>
          <p:nvPr/>
        </p:nvSpPr>
        <p:spPr>
          <a:xfrm>
            <a:off x="8183880" y="4069080"/>
            <a:ext cx="2926080" cy="274320"/>
          </a:xfrm>
          <a:prstGeom prst="rect">
            <a:avLst/>
          </a:prstGeom>
          <a:noFill/>
        </p:spPr>
        <p:txBody>
          <a:bodyPr wrap="square">
            <a:spAutoFit/>
          </a:bodyPr>
          <a:lstStyle/>
          <a:p>
            <a:pPr algn="ctr">
              <a:defRPr sz="1500" b="1" i="0">
                <a:solidFill>
                  <a:srgbClr val="1A1A1A"/>
                </a:solidFill>
                <a:latin typeface="Segoe UI"/>
              </a:defRPr>
            </a:pPr>
            <a:r>
              <a:t>Results</a:t>
            </a:r>
          </a:p>
        </p:txBody>
      </p:sp>
      <p:sp>
        <p:nvSpPr>
          <p:cNvPr id="34" name="TextBox 33"/>
          <p:cNvSpPr txBox="1"/>
          <p:nvPr/>
        </p:nvSpPr>
        <p:spPr>
          <a:xfrm>
            <a:off x="8183880" y="4343400"/>
            <a:ext cx="2926080" cy="548640"/>
          </a:xfrm>
          <a:prstGeom prst="rect">
            <a:avLst/>
          </a:prstGeom>
          <a:noFill/>
        </p:spPr>
        <p:txBody>
          <a:bodyPr wrap="square">
            <a:spAutoFit/>
          </a:bodyPr>
          <a:lstStyle/>
          <a:p>
            <a:pPr algn="ctr">
              <a:defRPr sz="1100" b="0" i="0">
                <a:solidFill>
                  <a:srgbClr val="555555"/>
                </a:solidFill>
                <a:latin typeface="Segoe UI"/>
              </a:defRPr>
            </a:pPr>
            <a:r>
              <a:t>Matching clips returned with title, date, outlet, and the Governor mention</a:t>
            </a:r>
          </a:p>
        </p:txBody>
      </p:sp>
      <p:sp>
        <p:nvSpPr>
          <p:cNvPr id="35" name="Rounded Rectangle 34"/>
          <p:cNvSpPr/>
          <p:nvPr/>
        </p:nvSpPr>
        <p:spPr>
          <a:xfrm>
            <a:off x="548640" y="5257800"/>
            <a:ext cx="10789920" cy="640080"/>
          </a:xfrm>
          <a:prstGeom prst="roundRect">
            <a:avLst>
              <a:gd name="adj" fmla="val 5000"/>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330952"/>
            <a:ext cx="10424160" cy="493776"/>
          </a:xfrm>
          <a:prstGeom prst="rect">
            <a:avLst/>
          </a:prstGeom>
          <a:noFill/>
        </p:spPr>
        <p:txBody>
          <a:bodyPr wrap="square">
            <a:spAutoFit/>
          </a:bodyPr>
          <a:lstStyle/>
          <a:p>
            <a:pPr algn="l">
              <a:defRPr sz="1300" b="0" i="0">
                <a:solidFill>
                  <a:srgbClr val="1A1A1A"/>
                </a:solidFill>
                <a:latin typeface="Segoe UI"/>
              </a:defRPr>
            </a:pPr>
            <a:r>
              <a:rPr sz="1300" b="1">
                <a:solidFill>
                  <a:srgbClr val="E65100"/>
                </a:solidFill>
                <a:latin typeface="Segoe UI"/>
              </a:rPr>
              <a:t>Key: </a:t>
            </a:r>
            <a:r>
              <a:rPr sz="1300">
                <a:solidFill>
                  <a:srgbClr val="1A1A1A"/>
                </a:solidFill>
                <a:latin typeface="Segoe UI"/>
              </a:rPr>
              <a:t>"police pay" finds an article titled "Governor Stein Calls for Law Enforcement Raises" — because the meaning matches, not just the words.</a:t>
            </a:r>
          </a:p>
        </p:txBody>
      </p:sp>
      <p:sp>
        <p:nvSpPr>
          <p:cNvPr id="37" name="TextBox 36"/>
          <p:cNvSpPr txBox="1"/>
          <p:nvPr/>
        </p:nvSpPr>
        <p:spPr>
          <a:xfrm>
            <a:off x="548640" y="6446520"/>
            <a:ext cx="4572000" cy="274320"/>
          </a:xfrm>
          <a:prstGeom prst="rect">
            <a:avLst/>
          </a:prstGeom>
          <a:noFill/>
        </p:spPr>
        <p:txBody>
          <a:bodyPr wrap="square">
            <a:spAutoFit/>
          </a:bodyPr>
          <a:lstStyle/>
          <a:p>
            <a:pPr algn="l">
              <a:defRPr sz="900" b="0" i="0">
                <a:solidFill>
                  <a:srgbClr val="BBBBBB"/>
                </a:solidFill>
                <a:latin typeface="Segoe UI"/>
              </a:defRPr>
            </a:pPr>
            <a:r>
              <a:t>NC DIT AI Office</a:t>
            </a:r>
          </a:p>
        </p:txBody>
      </p:sp>
      <p:sp>
        <p:nvSpPr>
          <p:cNvPr id="38" name="TextBox 37"/>
          <p:cNvSpPr txBox="1"/>
          <p:nvPr/>
        </p:nvSpPr>
        <p:spPr>
          <a:xfrm>
            <a:off x="6858000" y="6446520"/>
            <a:ext cx="4572000" cy="274320"/>
          </a:xfrm>
          <a:prstGeom prst="rect">
            <a:avLst/>
          </a:prstGeom>
          <a:noFill/>
        </p:spPr>
        <p:txBody>
          <a:bodyPr wrap="square">
            <a:spAutoFit/>
          </a:bodyPr>
          <a:lstStyle/>
          <a:p>
            <a:pPr algn="r">
              <a:defRPr sz="900" b="0" i="0">
                <a:solidFill>
                  <a:srgbClr val="BBBBBB"/>
                </a:solidFill>
                <a:latin typeface="Segoe UI"/>
              </a:defRPr>
            </a:pPr>
            <a:r>
              <a:t>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3200" b="1" i="0">
                <a:solidFill>
                  <a:srgbClr val="FFFFFF"/>
                </a:solidFill>
                <a:latin typeface="Segoe UI"/>
              </a:defRPr>
            </a:pPr>
            <a:r>
              <a:t>Remarks Search</a:t>
            </a:r>
          </a:p>
        </p:txBody>
      </p:sp>
      <p:sp>
        <p:nvSpPr>
          <p:cNvPr id="4" name="TextBox 3"/>
          <p:cNvSpPr txBox="1"/>
          <p:nvPr/>
        </p:nvSpPr>
        <p:spPr>
          <a:xfrm>
            <a:off x="548640" y="594360"/>
            <a:ext cx="10058400" cy="365760"/>
          </a:xfrm>
          <a:prstGeom prst="rect">
            <a:avLst/>
          </a:prstGeom>
          <a:noFill/>
        </p:spPr>
        <p:txBody>
          <a:bodyPr wrap="square">
            <a:spAutoFit/>
          </a:bodyPr>
          <a:lstStyle/>
          <a:p>
            <a:pPr algn="l">
              <a:defRPr sz="1500" b="0" i="0">
                <a:solidFill>
                  <a:srgbClr val="DDFFDD"/>
                </a:solidFill>
                <a:latin typeface="Segoe UI"/>
              </a:defRPr>
            </a:pPr>
            <a:r>
              <a:t>Search the Governor's speeches by topic. AI reads all matching passages and writes a summary with direct quotes.</a:t>
            </a:r>
          </a:p>
        </p:txBody>
      </p:sp>
      <p:sp>
        <p:nvSpPr>
          <p:cNvPr id="5" name="TextBox 4"/>
          <p:cNvSpPr txBox="1"/>
          <p:nvPr/>
        </p:nvSpPr>
        <p:spPr>
          <a:xfrm>
            <a:off x="548640" y="1325880"/>
            <a:ext cx="9144000" cy="274320"/>
          </a:xfrm>
          <a:prstGeom prst="rect">
            <a:avLst/>
          </a:prstGeom>
          <a:noFill/>
        </p:spPr>
        <p:txBody>
          <a:bodyPr wrap="square">
            <a:spAutoFit/>
          </a:bodyPr>
          <a:lstStyle/>
          <a:p>
            <a:pPr algn="l">
              <a:defRPr sz="1000" b="1" i="0">
                <a:solidFill>
                  <a:srgbClr val="888888"/>
                </a:solidFill>
                <a:latin typeface="Segoe UI"/>
              </a:defRPr>
            </a:pPr>
            <a:r>
              <a:t>HOW SPEECHES GET IN — UPLOAD TRIGGERS PROCESSING</a:t>
            </a:r>
          </a:p>
        </p:txBody>
      </p:sp>
      <p:sp>
        <p:nvSpPr>
          <p:cNvPr id="6" name="Rounded Rectangle 5"/>
          <p:cNvSpPr/>
          <p:nvPr/>
        </p:nvSpPr>
        <p:spPr>
          <a:xfrm>
            <a:off x="54864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88820" y="1801368"/>
            <a:ext cx="320040" cy="32004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1</a:t>
            </a:r>
          </a:p>
        </p:txBody>
      </p:sp>
      <p:sp>
        <p:nvSpPr>
          <p:cNvPr id="8" name="TextBox 7"/>
          <p:cNvSpPr txBox="1"/>
          <p:nvPr/>
        </p:nvSpPr>
        <p:spPr>
          <a:xfrm>
            <a:off x="685800" y="2148840"/>
            <a:ext cx="2926080" cy="274320"/>
          </a:xfrm>
          <a:prstGeom prst="rect">
            <a:avLst/>
          </a:prstGeom>
          <a:noFill/>
        </p:spPr>
        <p:txBody>
          <a:bodyPr wrap="square">
            <a:spAutoFit/>
          </a:bodyPr>
          <a:lstStyle/>
          <a:p>
            <a:pPr algn="ctr">
              <a:defRPr sz="1500" b="1" i="0">
                <a:solidFill>
                  <a:srgbClr val="1A1A1A"/>
                </a:solidFill>
                <a:latin typeface="Segoe UI"/>
              </a:defRPr>
            </a:pPr>
            <a:r>
              <a:t>Upload</a:t>
            </a:r>
          </a:p>
        </p:txBody>
      </p:sp>
      <p:sp>
        <p:nvSpPr>
          <p:cNvPr id="9" name="TextBox 8"/>
          <p:cNvSpPr txBox="1"/>
          <p:nvPr/>
        </p:nvSpPr>
        <p:spPr>
          <a:xfrm>
            <a:off x="685800" y="2423160"/>
            <a:ext cx="2926080" cy="548640"/>
          </a:xfrm>
          <a:prstGeom prst="rect">
            <a:avLst/>
          </a:prstGeom>
          <a:noFill/>
        </p:spPr>
        <p:txBody>
          <a:bodyPr wrap="square">
            <a:spAutoFit/>
          </a:bodyPr>
          <a:lstStyle/>
          <a:p>
            <a:pPr algn="ctr">
              <a:defRPr sz="1100" b="0" i="0">
                <a:solidFill>
                  <a:srgbClr val="555555"/>
                </a:solidFill>
                <a:latin typeface="Segoe UI"/>
              </a:defRPr>
            </a:pPr>
            <a:r>
              <a:t>Drop a speech file into Blob Storage — triggers an Azure Function automatically</a:t>
            </a:r>
          </a:p>
        </p:txBody>
      </p:sp>
      <p:sp>
        <p:nvSpPr>
          <p:cNvPr id="10" name="TextBox 9"/>
          <p:cNvSpPr txBox="1"/>
          <p:nvPr/>
        </p:nvSpPr>
        <p:spPr>
          <a:xfrm>
            <a:off x="3749040" y="219456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11" name="Rounded Rectangle 10"/>
          <p:cNvSpPr/>
          <p:nvPr/>
        </p:nvSpPr>
        <p:spPr>
          <a:xfrm>
            <a:off x="429768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737860" y="1801368"/>
            <a:ext cx="320040" cy="32004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2</a:t>
            </a:r>
          </a:p>
        </p:txBody>
      </p:sp>
      <p:sp>
        <p:nvSpPr>
          <p:cNvPr id="13" name="TextBox 12"/>
          <p:cNvSpPr txBox="1"/>
          <p:nvPr/>
        </p:nvSpPr>
        <p:spPr>
          <a:xfrm>
            <a:off x="4434840" y="2148840"/>
            <a:ext cx="2926080" cy="274320"/>
          </a:xfrm>
          <a:prstGeom prst="rect">
            <a:avLst/>
          </a:prstGeom>
          <a:noFill/>
        </p:spPr>
        <p:txBody>
          <a:bodyPr wrap="square">
            <a:spAutoFit/>
          </a:bodyPr>
          <a:lstStyle/>
          <a:p>
            <a:pPr algn="ctr">
              <a:defRPr sz="1500" b="1" i="0">
                <a:solidFill>
                  <a:srgbClr val="1A1A1A"/>
                </a:solidFill>
                <a:latin typeface="Segoe UI"/>
              </a:defRPr>
            </a:pPr>
            <a:r>
              <a:t>Chunk + Embed</a:t>
            </a:r>
          </a:p>
        </p:txBody>
      </p:sp>
      <p:sp>
        <p:nvSpPr>
          <p:cNvPr id="14" name="TextBox 13"/>
          <p:cNvSpPr txBox="1"/>
          <p:nvPr/>
        </p:nvSpPr>
        <p:spPr>
          <a:xfrm>
            <a:off x="4434840" y="2423160"/>
            <a:ext cx="2926080" cy="548640"/>
          </a:xfrm>
          <a:prstGeom prst="rect">
            <a:avLst/>
          </a:prstGeom>
          <a:noFill/>
        </p:spPr>
        <p:txBody>
          <a:bodyPr wrap="square">
            <a:spAutoFit/>
          </a:bodyPr>
          <a:lstStyle/>
          <a:p>
            <a:pPr algn="ctr">
              <a:defRPr sz="1100" b="0" i="0">
                <a:solidFill>
                  <a:srgbClr val="555555"/>
                </a:solidFill>
                <a:latin typeface="Segoe UI"/>
              </a:defRPr>
            </a:pPr>
            <a:r>
              <a:t>Function splits into paragraphs, embeds each chunk, tags with date/event/venue</a:t>
            </a:r>
          </a:p>
        </p:txBody>
      </p:sp>
      <p:sp>
        <p:nvSpPr>
          <p:cNvPr id="15" name="TextBox 14"/>
          <p:cNvSpPr txBox="1"/>
          <p:nvPr/>
        </p:nvSpPr>
        <p:spPr>
          <a:xfrm>
            <a:off x="7498080" y="219456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16" name="Rounded Rectangle 15"/>
          <p:cNvSpPr/>
          <p:nvPr/>
        </p:nvSpPr>
        <p:spPr>
          <a:xfrm>
            <a:off x="804672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86900" y="1801368"/>
            <a:ext cx="320040" cy="32004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3</a:t>
            </a:r>
          </a:p>
        </p:txBody>
      </p:sp>
      <p:sp>
        <p:nvSpPr>
          <p:cNvPr id="18" name="TextBox 17"/>
          <p:cNvSpPr txBox="1"/>
          <p:nvPr/>
        </p:nvSpPr>
        <p:spPr>
          <a:xfrm>
            <a:off x="8183880" y="2148840"/>
            <a:ext cx="2926080" cy="274320"/>
          </a:xfrm>
          <a:prstGeom prst="rect">
            <a:avLst/>
          </a:prstGeom>
          <a:noFill/>
        </p:spPr>
        <p:txBody>
          <a:bodyPr wrap="square">
            <a:spAutoFit/>
          </a:bodyPr>
          <a:lstStyle/>
          <a:p>
            <a:pPr algn="ctr">
              <a:defRPr sz="1500" b="1" i="0">
                <a:solidFill>
                  <a:srgbClr val="1A1A1A"/>
                </a:solidFill>
                <a:latin typeface="Segoe UI"/>
              </a:defRPr>
            </a:pPr>
            <a:r>
              <a:t>Index</a:t>
            </a:r>
          </a:p>
        </p:txBody>
      </p:sp>
      <p:sp>
        <p:nvSpPr>
          <p:cNvPr id="19" name="TextBox 18"/>
          <p:cNvSpPr txBox="1"/>
          <p:nvPr/>
        </p:nvSpPr>
        <p:spPr>
          <a:xfrm>
            <a:off x="8183880" y="2423160"/>
            <a:ext cx="2926080" cy="548640"/>
          </a:xfrm>
          <a:prstGeom prst="rect">
            <a:avLst/>
          </a:prstGeom>
          <a:noFill/>
        </p:spPr>
        <p:txBody>
          <a:bodyPr wrap="square">
            <a:spAutoFit/>
          </a:bodyPr>
          <a:lstStyle/>
          <a:p>
            <a:pPr algn="ctr">
              <a:defRPr sz="1100" b="0" i="0">
                <a:solidFill>
                  <a:srgbClr val="555555"/>
                </a:solidFill>
                <a:latin typeface="Segoe UI"/>
              </a:defRPr>
            </a:pPr>
            <a:r>
              <a:t>Chunks stored in Cosmos DB + Azure AI Search for retrieval</a:t>
            </a:r>
          </a:p>
        </p:txBody>
      </p:sp>
      <p:sp>
        <p:nvSpPr>
          <p:cNvPr id="20" name="TextBox 19"/>
          <p:cNvSpPr txBox="1"/>
          <p:nvPr/>
        </p:nvSpPr>
        <p:spPr>
          <a:xfrm>
            <a:off x="548640" y="3291840"/>
            <a:ext cx="9144000" cy="274320"/>
          </a:xfrm>
          <a:prstGeom prst="rect">
            <a:avLst/>
          </a:prstGeom>
          <a:noFill/>
        </p:spPr>
        <p:txBody>
          <a:bodyPr wrap="square">
            <a:spAutoFit/>
          </a:bodyPr>
          <a:lstStyle/>
          <a:p>
            <a:pPr algn="l">
              <a:defRPr sz="1000" b="1" i="0">
                <a:solidFill>
                  <a:srgbClr val="888888"/>
                </a:solidFill>
                <a:latin typeface="Segoe UI"/>
              </a:defRPr>
            </a:pPr>
            <a:r>
              <a:t>HOW STAFF ASK — "WHAT HAS THE GOVERNOR SAID ABOUT TEACHER PAY?"</a:t>
            </a:r>
          </a:p>
        </p:txBody>
      </p:sp>
      <p:sp>
        <p:nvSpPr>
          <p:cNvPr id="21" name="Rounded Rectangle 20"/>
          <p:cNvSpPr/>
          <p:nvPr/>
        </p:nvSpPr>
        <p:spPr>
          <a:xfrm>
            <a:off x="548640" y="361188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988820" y="3721608"/>
            <a:ext cx="320040" cy="32004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1</a:t>
            </a:r>
          </a:p>
        </p:txBody>
      </p:sp>
      <p:sp>
        <p:nvSpPr>
          <p:cNvPr id="23" name="TextBox 22"/>
          <p:cNvSpPr txBox="1"/>
          <p:nvPr/>
        </p:nvSpPr>
        <p:spPr>
          <a:xfrm>
            <a:off x="685800" y="4069080"/>
            <a:ext cx="2926080" cy="274320"/>
          </a:xfrm>
          <a:prstGeom prst="rect">
            <a:avLst/>
          </a:prstGeom>
          <a:noFill/>
        </p:spPr>
        <p:txBody>
          <a:bodyPr wrap="square">
            <a:spAutoFit/>
          </a:bodyPr>
          <a:lstStyle/>
          <a:p>
            <a:pPr algn="ctr">
              <a:defRPr sz="1500" b="1" i="0">
                <a:solidFill>
                  <a:srgbClr val="1A1A1A"/>
                </a:solidFill>
                <a:latin typeface="Segoe UI"/>
              </a:defRPr>
            </a:pPr>
            <a:r>
              <a:t>Ask in Teams</a:t>
            </a:r>
          </a:p>
        </p:txBody>
      </p:sp>
      <p:sp>
        <p:nvSpPr>
          <p:cNvPr id="24" name="TextBox 23"/>
          <p:cNvSpPr txBox="1"/>
          <p:nvPr/>
        </p:nvSpPr>
        <p:spPr>
          <a:xfrm>
            <a:off x="685800" y="4343400"/>
            <a:ext cx="2926080" cy="548640"/>
          </a:xfrm>
          <a:prstGeom prst="rect">
            <a:avLst/>
          </a:prstGeom>
          <a:noFill/>
        </p:spPr>
        <p:txBody>
          <a:bodyPr wrap="square">
            <a:spAutoFit/>
          </a:bodyPr>
          <a:lstStyle/>
          <a:p>
            <a:pPr algn="ctr">
              <a:defRPr sz="1100" b="0" i="0">
                <a:solidFill>
                  <a:srgbClr val="555555"/>
                </a:solidFill>
                <a:latin typeface="Segoe UI"/>
              </a:defRPr>
            </a:pPr>
            <a:r>
              <a:t>Staff types a topic question in the Copilot Studio chatbot</a:t>
            </a:r>
          </a:p>
        </p:txBody>
      </p:sp>
      <p:sp>
        <p:nvSpPr>
          <p:cNvPr id="25" name="TextBox 24"/>
          <p:cNvSpPr txBox="1"/>
          <p:nvPr/>
        </p:nvSpPr>
        <p:spPr>
          <a:xfrm>
            <a:off x="3749040" y="411480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26" name="Rounded Rectangle 25"/>
          <p:cNvSpPr/>
          <p:nvPr/>
        </p:nvSpPr>
        <p:spPr>
          <a:xfrm>
            <a:off x="4297680" y="361188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737860" y="3721608"/>
            <a:ext cx="320040" cy="32004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2</a:t>
            </a:r>
          </a:p>
        </p:txBody>
      </p:sp>
      <p:sp>
        <p:nvSpPr>
          <p:cNvPr id="28" name="TextBox 27"/>
          <p:cNvSpPr txBox="1"/>
          <p:nvPr/>
        </p:nvSpPr>
        <p:spPr>
          <a:xfrm>
            <a:off x="4434840" y="4069080"/>
            <a:ext cx="2926080" cy="274320"/>
          </a:xfrm>
          <a:prstGeom prst="rect">
            <a:avLst/>
          </a:prstGeom>
          <a:noFill/>
        </p:spPr>
        <p:txBody>
          <a:bodyPr wrap="square">
            <a:spAutoFit/>
          </a:bodyPr>
          <a:lstStyle/>
          <a:p>
            <a:pPr algn="ctr">
              <a:defRPr sz="1500" b="1" i="0">
                <a:solidFill>
                  <a:srgbClr val="1A1A1A"/>
                </a:solidFill>
                <a:latin typeface="Segoe UI"/>
              </a:defRPr>
            </a:pPr>
            <a:r>
              <a:t>Hybrid Search</a:t>
            </a:r>
          </a:p>
        </p:txBody>
      </p:sp>
      <p:sp>
        <p:nvSpPr>
          <p:cNvPr id="29" name="TextBox 28"/>
          <p:cNvSpPr txBox="1"/>
          <p:nvPr/>
        </p:nvSpPr>
        <p:spPr>
          <a:xfrm>
            <a:off x="4434840" y="4343400"/>
            <a:ext cx="2926080" cy="548640"/>
          </a:xfrm>
          <a:prstGeom prst="rect">
            <a:avLst/>
          </a:prstGeom>
          <a:noFill/>
        </p:spPr>
        <p:txBody>
          <a:bodyPr wrap="square">
            <a:spAutoFit/>
          </a:bodyPr>
          <a:lstStyle/>
          <a:p>
            <a:pPr algn="ctr">
              <a:defRPr sz="1100" b="0" i="0">
                <a:solidFill>
                  <a:srgbClr val="555555"/>
                </a:solidFill>
                <a:latin typeface="Segoe UI"/>
              </a:defRPr>
            </a:pPr>
            <a:r>
              <a:t>Finds top matching speech chunks across all remarks via vector + keyword search</a:t>
            </a:r>
          </a:p>
        </p:txBody>
      </p:sp>
      <p:sp>
        <p:nvSpPr>
          <p:cNvPr id="30" name="TextBox 29"/>
          <p:cNvSpPr txBox="1"/>
          <p:nvPr/>
        </p:nvSpPr>
        <p:spPr>
          <a:xfrm>
            <a:off x="7498080" y="411480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31" name="Rounded Rectangle 30"/>
          <p:cNvSpPr/>
          <p:nvPr/>
        </p:nvSpPr>
        <p:spPr>
          <a:xfrm>
            <a:off x="8046720" y="361188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486900" y="3721608"/>
            <a:ext cx="320040" cy="32004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3</a:t>
            </a:r>
          </a:p>
        </p:txBody>
      </p:sp>
      <p:sp>
        <p:nvSpPr>
          <p:cNvPr id="33" name="TextBox 32"/>
          <p:cNvSpPr txBox="1"/>
          <p:nvPr/>
        </p:nvSpPr>
        <p:spPr>
          <a:xfrm>
            <a:off x="8183880" y="4069080"/>
            <a:ext cx="2926080" cy="274320"/>
          </a:xfrm>
          <a:prstGeom prst="rect">
            <a:avLst/>
          </a:prstGeom>
          <a:noFill/>
        </p:spPr>
        <p:txBody>
          <a:bodyPr wrap="square">
            <a:spAutoFit/>
          </a:bodyPr>
          <a:lstStyle/>
          <a:p>
            <a:pPr algn="ctr">
              <a:defRPr sz="1500" b="1" i="0">
                <a:solidFill>
                  <a:srgbClr val="1A1A1A"/>
                </a:solidFill>
                <a:latin typeface="Segoe UI"/>
              </a:defRPr>
            </a:pPr>
            <a:r>
              <a:t>GPT-4o Synthesizes</a:t>
            </a:r>
          </a:p>
        </p:txBody>
      </p:sp>
      <p:sp>
        <p:nvSpPr>
          <p:cNvPr id="34" name="TextBox 33"/>
          <p:cNvSpPr txBox="1"/>
          <p:nvPr/>
        </p:nvSpPr>
        <p:spPr>
          <a:xfrm>
            <a:off x="8183880" y="4343400"/>
            <a:ext cx="2926080" cy="548640"/>
          </a:xfrm>
          <a:prstGeom prst="rect">
            <a:avLst/>
          </a:prstGeom>
          <a:noFill/>
        </p:spPr>
        <p:txBody>
          <a:bodyPr wrap="square">
            <a:spAutoFit/>
          </a:bodyPr>
          <a:lstStyle/>
          <a:p>
            <a:pPr algn="ctr">
              <a:defRPr sz="1100" b="0" i="0">
                <a:solidFill>
                  <a:srgbClr val="555555"/>
                </a:solidFill>
                <a:latin typeface="Segoe UI"/>
              </a:defRPr>
            </a:pPr>
            <a:r>
              <a:t>AI reads the chunks and writes a synthesis with direct quotes, dates, and sources</a:t>
            </a:r>
          </a:p>
        </p:txBody>
      </p:sp>
      <p:sp>
        <p:nvSpPr>
          <p:cNvPr id="35" name="Rounded Rectangle 34"/>
          <p:cNvSpPr/>
          <p:nvPr/>
        </p:nvSpPr>
        <p:spPr>
          <a:xfrm>
            <a:off x="548640" y="5257800"/>
            <a:ext cx="10789920" cy="640080"/>
          </a:xfrm>
          <a:prstGeom prst="roundRect">
            <a:avLst>
              <a:gd name="adj" fmla="val 5000"/>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330952"/>
            <a:ext cx="10424160" cy="493776"/>
          </a:xfrm>
          <a:prstGeom prst="rect">
            <a:avLst/>
          </a:prstGeom>
          <a:noFill/>
        </p:spPr>
        <p:txBody>
          <a:bodyPr wrap="square">
            <a:spAutoFit/>
          </a:bodyPr>
          <a:lstStyle/>
          <a:p>
            <a:pPr algn="l">
              <a:defRPr sz="1300" b="0" i="0">
                <a:solidFill>
                  <a:srgbClr val="1A1A1A"/>
                </a:solidFill>
                <a:latin typeface="Segoe UI"/>
              </a:defRPr>
            </a:pPr>
            <a:r>
              <a:rPr sz="1300" b="1">
                <a:solidFill>
                  <a:srgbClr val="E65100"/>
                </a:solidFill>
                <a:latin typeface="Segoe UI"/>
              </a:rPr>
              <a:t>This is the RAG pattern </a:t>
            </a:r>
            <a:r>
              <a:rPr sz="1300">
                <a:solidFill>
                  <a:srgbClr val="1A1A1A"/>
                </a:solidFill>
                <a:latin typeface="Segoe UI"/>
              </a:rPr>
              <a:t>(Retrieval-Augmented Generation): we retrieve real source material first, then ask AI to summarize only what it found. The AI never invents quotes — it cites real text from real speeches.</a:t>
            </a:r>
          </a:p>
        </p:txBody>
      </p:sp>
      <p:sp>
        <p:nvSpPr>
          <p:cNvPr id="37" name="TextBox 36"/>
          <p:cNvSpPr txBox="1"/>
          <p:nvPr/>
        </p:nvSpPr>
        <p:spPr>
          <a:xfrm>
            <a:off x="548640" y="6446520"/>
            <a:ext cx="4572000" cy="274320"/>
          </a:xfrm>
          <a:prstGeom prst="rect">
            <a:avLst/>
          </a:prstGeom>
          <a:noFill/>
        </p:spPr>
        <p:txBody>
          <a:bodyPr wrap="square">
            <a:spAutoFit/>
          </a:bodyPr>
          <a:lstStyle/>
          <a:p>
            <a:pPr algn="l">
              <a:defRPr sz="900" b="0" i="0">
                <a:solidFill>
                  <a:srgbClr val="BBBBBB"/>
                </a:solidFill>
                <a:latin typeface="Segoe UI"/>
              </a:defRPr>
            </a:pPr>
            <a:r>
              <a:t>NC DIT AI Office</a:t>
            </a:r>
          </a:p>
        </p:txBody>
      </p:sp>
      <p:sp>
        <p:nvSpPr>
          <p:cNvPr id="38" name="TextBox 37"/>
          <p:cNvSpPr txBox="1"/>
          <p:nvPr/>
        </p:nvSpPr>
        <p:spPr>
          <a:xfrm>
            <a:off x="6858000" y="6446520"/>
            <a:ext cx="4572000" cy="274320"/>
          </a:xfrm>
          <a:prstGeom prst="rect">
            <a:avLst/>
          </a:prstGeom>
          <a:noFill/>
        </p:spPr>
        <p:txBody>
          <a:bodyPr wrap="square">
            <a:spAutoFit/>
          </a:bodyPr>
          <a:lstStyle/>
          <a:p>
            <a:pPr algn="r">
              <a:defRPr sz="900" b="0" i="0">
                <a:solidFill>
                  <a:srgbClr val="BBBBBB"/>
                </a:solidFill>
                <a:latin typeface="Segoe UI"/>
              </a:defRPr>
            </a:pPr>
            <a:r>
              <a:t>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3200" b="1" i="0">
                <a:solidFill>
                  <a:srgbClr val="FFFFFF"/>
                </a:solidFill>
                <a:latin typeface="Segoe UI"/>
              </a:defRPr>
            </a:pPr>
            <a:r>
              <a:t>Transcript Proofreading</a:t>
            </a:r>
          </a:p>
        </p:txBody>
      </p:sp>
      <p:sp>
        <p:nvSpPr>
          <p:cNvPr id="4" name="TextBox 3"/>
          <p:cNvSpPr txBox="1"/>
          <p:nvPr/>
        </p:nvSpPr>
        <p:spPr>
          <a:xfrm>
            <a:off x="548640" y="594360"/>
            <a:ext cx="10058400" cy="365760"/>
          </a:xfrm>
          <a:prstGeom prst="rect">
            <a:avLst/>
          </a:prstGeom>
          <a:noFill/>
        </p:spPr>
        <p:txBody>
          <a:bodyPr wrap="square">
            <a:spAutoFit/>
          </a:bodyPr>
          <a:lstStyle/>
          <a:p>
            <a:pPr algn="l">
              <a:defRPr sz="1500" b="0" i="0">
                <a:solidFill>
                  <a:srgbClr val="FFDDCC"/>
                </a:solidFill>
                <a:latin typeface="Segoe UI"/>
              </a:defRPr>
            </a:pPr>
            <a:r>
              <a:t>Paste a rough transcript, get back a clean version with every change explained.</a:t>
            </a:r>
          </a:p>
        </p:txBody>
      </p:sp>
      <p:sp>
        <p:nvSpPr>
          <p:cNvPr id="5" name="TextBox 4"/>
          <p:cNvSpPr txBox="1"/>
          <p:nvPr/>
        </p:nvSpPr>
        <p:spPr>
          <a:xfrm>
            <a:off x="548640" y="1325880"/>
            <a:ext cx="9144000" cy="274320"/>
          </a:xfrm>
          <a:prstGeom prst="rect">
            <a:avLst/>
          </a:prstGeom>
          <a:noFill/>
        </p:spPr>
        <p:txBody>
          <a:bodyPr wrap="square">
            <a:spAutoFit/>
          </a:bodyPr>
          <a:lstStyle/>
          <a:p>
            <a:pPr algn="l">
              <a:defRPr sz="1000" b="1" i="0">
                <a:solidFill>
                  <a:srgbClr val="888888"/>
                </a:solidFill>
                <a:latin typeface="Segoe UI"/>
              </a:defRPr>
            </a:pPr>
            <a:r>
              <a:t>HOW IT WORKS — ONE STEP, NO DATA STORED</a:t>
            </a:r>
          </a:p>
        </p:txBody>
      </p:sp>
      <p:sp>
        <p:nvSpPr>
          <p:cNvPr id="6" name="Rounded Rectangle 5"/>
          <p:cNvSpPr/>
          <p:nvPr/>
        </p:nvSpPr>
        <p:spPr>
          <a:xfrm>
            <a:off x="54864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88820" y="1801368"/>
            <a:ext cx="320040" cy="320040"/>
          </a:xfrm>
          <a:prstGeom prst="ellipse">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1</a:t>
            </a:r>
          </a:p>
        </p:txBody>
      </p:sp>
      <p:sp>
        <p:nvSpPr>
          <p:cNvPr id="8" name="TextBox 7"/>
          <p:cNvSpPr txBox="1"/>
          <p:nvPr/>
        </p:nvSpPr>
        <p:spPr>
          <a:xfrm>
            <a:off x="685800" y="2148840"/>
            <a:ext cx="2926080" cy="274320"/>
          </a:xfrm>
          <a:prstGeom prst="rect">
            <a:avLst/>
          </a:prstGeom>
          <a:noFill/>
        </p:spPr>
        <p:txBody>
          <a:bodyPr wrap="square">
            <a:spAutoFit/>
          </a:bodyPr>
          <a:lstStyle/>
          <a:p>
            <a:pPr algn="ctr">
              <a:defRPr sz="1500" b="1" i="0">
                <a:solidFill>
                  <a:srgbClr val="1A1A1A"/>
                </a:solidFill>
                <a:latin typeface="Segoe UI"/>
              </a:defRPr>
            </a:pPr>
            <a:r>
              <a:t>Paste Text</a:t>
            </a:r>
          </a:p>
        </p:txBody>
      </p:sp>
      <p:sp>
        <p:nvSpPr>
          <p:cNvPr id="9" name="TextBox 8"/>
          <p:cNvSpPr txBox="1"/>
          <p:nvPr/>
        </p:nvSpPr>
        <p:spPr>
          <a:xfrm>
            <a:off x="685800" y="2423160"/>
            <a:ext cx="2926080" cy="548640"/>
          </a:xfrm>
          <a:prstGeom prst="rect">
            <a:avLst/>
          </a:prstGeom>
          <a:noFill/>
        </p:spPr>
        <p:txBody>
          <a:bodyPr wrap="square">
            <a:spAutoFit/>
          </a:bodyPr>
          <a:lstStyle/>
          <a:p>
            <a:pPr algn="ctr">
              <a:defRPr sz="1100" b="0" i="0">
                <a:solidFill>
                  <a:srgbClr val="555555"/>
                </a:solidFill>
                <a:latin typeface="Segoe UI"/>
              </a:defRPr>
            </a:pPr>
            <a:r>
              <a:t>Staff pastes a raw transcript from voice-to-text or a scanned document into the chatbot</a:t>
            </a:r>
          </a:p>
        </p:txBody>
      </p:sp>
      <p:sp>
        <p:nvSpPr>
          <p:cNvPr id="10" name="TextBox 9"/>
          <p:cNvSpPr txBox="1"/>
          <p:nvPr/>
        </p:nvSpPr>
        <p:spPr>
          <a:xfrm>
            <a:off x="3749040" y="219456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11" name="Rounded Rectangle 10"/>
          <p:cNvSpPr/>
          <p:nvPr/>
        </p:nvSpPr>
        <p:spPr>
          <a:xfrm>
            <a:off x="429768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737860" y="1801368"/>
            <a:ext cx="320040" cy="320040"/>
          </a:xfrm>
          <a:prstGeom prst="ellipse">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2</a:t>
            </a:r>
          </a:p>
        </p:txBody>
      </p:sp>
      <p:sp>
        <p:nvSpPr>
          <p:cNvPr id="13" name="TextBox 12"/>
          <p:cNvSpPr txBox="1"/>
          <p:nvPr/>
        </p:nvSpPr>
        <p:spPr>
          <a:xfrm>
            <a:off x="4434840" y="2148840"/>
            <a:ext cx="2926080" cy="274320"/>
          </a:xfrm>
          <a:prstGeom prst="rect">
            <a:avLst/>
          </a:prstGeom>
          <a:noFill/>
        </p:spPr>
        <p:txBody>
          <a:bodyPr wrap="square">
            <a:spAutoFit/>
          </a:bodyPr>
          <a:lstStyle/>
          <a:p>
            <a:pPr algn="ctr">
              <a:defRPr sz="1500" b="1" i="0">
                <a:solidFill>
                  <a:srgbClr val="1A1A1A"/>
                </a:solidFill>
                <a:latin typeface="Segoe UI"/>
              </a:defRPr>
            </a:pPr>
            <a:r>
              <a:t>GPT-4o Proofreads</a:t>
            </a:r>
          </a:p>
        </p:txBody>
      </p:sp>
      <p:sp>
        <p:nvSpPr>
          <p:cNvPr id="14" name="TextBox 13"/>
          <p:cNvSpPr txBox="1"/>
          <p:nvPr/>
        </p:nvSpPr>
        <p:spPr>
          <a:xfrm>
            <a:off x="4434840" y="2423160"/>
            <a:ext cx="2926080" cy="548640"/>
          </a:xfrm>
          <a:prstGeom prst="rect">
            <a:avLst/>
          </a:prstGeom>
          <a:noFill/>
        </p:spPr>
        <p:txBody>
          <a:bodyPr wrap="square">
            <a:spAutoFit/>
          </a:bodyPr>
          <a:lstStyle/>
          <a:p>
            <a:pPr algn="ctr">
              <a:defRPr sz="1100" b="0" i="0">
                <a:solidFill>
                  <a:srgbClr val="555555"/>
                </a:solidFill>
                <a:latin typeface="Segoe UI"/>
              </a:defRPr>
            </a:pPr>
            <a:r>
              <a:t>Fixes ASR/OCR errors, punctuation, proper nouns — never changes meaning or speaking style</a:t>
            </a:r>
          </a:p>
        </p:txBody>
      </p:sp>
      <p:sp>
        <p:nvSpPr>
          <p:cNvPr id="15" name="TextBox 14"/>
          <p:cNvSpPr txBox="1"/>
          <p:nvPr/>
        </p:nvSpPr>
        <p:spPr>
          <a:xfrm>
            <a:off x="7498080" y="219456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16" name="Rounded Rectangle 15"/>
          <p:cNvSpPr/>
          <p:nvPr/>
        </p:nvSpPr>
        <p:spPr>
          <a:xfrm>
            <a:off x="804672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86900" y="1801368"/>
            <a:ext cx="320040" cy="320040"/>
          </a:xfrm>
          <a:prstGeom prst="ellipse">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3</a:t>
            </a:r>
          </a:p>
        </p:txBody>
      </p:sp>
      <p:sp>
        <p:nvSpPr>
          <p:cNvPr id="18" name="TextBox 17"/>
          <p:cNvSpPr txBox="1"/>
          <p:nvPr/>
        </p:nvSpPr>
        <p:spPr>
          <a:xfrm>
            <a:off x="8183880" y="2148840"/>
            <a:ext cx="2926080" cy="274320"/>
          </a:xfrm>
          <a:prstGeom prst="rect">
            <a:avLst/>
          </a:prstGeom>
          <a:noFill/>
        </p:spPr>
        <p:txBody>
          <a:bodyPr wrap="square">
            <a:spAutoFit/>
          </a:bodyPr>
          <a:lstStyle/>
          <a:p>
            <a:pPr algn="ctr">
              <a:defRPr sz="1500" b="1" i="0">
                <a:solidFill>
                  <a:srgbClr val="1A1A1A"/>
                </a:solidFill>
                <a:latin typeface="Segoe UI"/>
              </a:defRPr>
            </a:pPr>
            <a:r>
              <a:t>Structured Output</a:t>
            </a:r>
          </a:p>
        </p:txBody>
      </p:sp>
      <p:sp>
        <p:nvSpPr>
          <p:cNvPr id="19" name="TextBox 18"/>
          <p:cNvSpPr txBox="1"/>
          <p:nvPr/>
        </p:nvSpPr>
        <p:spPr>
          <a:xfrm>
            <a:off x="8183880" y="2423160"/>
            <a:ext cx="2926080" cy="548640"/>
          </a:xfrm>
          <a:prstGeom prst="rect">
            <a:avLst/>
          </a:prstGeom>
          <a:noFill/>
        </p:spPr>
        <p:txBody>
          <a:bodyPr wrap="square">
            <a:spAutoFit/>
          </a:bodyPr>
          <a:lstStyle/>
          <a:p>
            <a:pPr algn="ctr">
              <a:defRPr sz="1100" b="0" i="0">
                <a:solidFill>
                  <a:srgbClr val="555555"/>
                </a:solidFill>
                <a:latin typeface="Segoe UI"/>
              </a:defRPr>
            </a:pPr>
            <a:r>
              <a:t>Returns corrected text + a list of every change with a reason and confidence level</a:t>
            </a:r>
          </a:p>
        </p:txBody>
      </p:sp>
      <p:sp>
        <p:nvSpPr>
          <p:cNvPr id="20" name="Rounded Rectangle 19"/>
          <p:cNvSpPr/>
          <p:nvPr/>
        </p:nvSpPr>
        <p:spPr>
          <a:xfrm>
            <a:off x="548640" y="3291840"/>
            <a:ext cx="10789920" cy="640080"/>
          </a:xfrm>
          <a:prstGeom prst="roundRect">
            <a:avLst>
              <a:gd name="adj" fmla="val 5000"/>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364992"/>
            <a:ext cx="10424160" cy="493776"/>
          </a:xfrm>
          <a:prstGeom prst="rect">
            <a:avLst/>
          </a:prstGeom>
          <a:noFill/>
        </p:spPr>
        <p:txBody>
          <a:bodyPr wrap="square">
            <a:spAutoFit/>
          </a:bodyPr>
          <a:lstStyle/>
          <a:p>
            <a:pPr algn="l">
              <a:defRPr sz="1300" b="0" i="0">
                <a:solidFill>
                  <a:srgbClr val="1A1A1A"/>
                </a:solidFill>
                <a:latin typeface="Segoe UI"/>
              </a:defRPr>
            </a:pPr>
            <a:r>
              <a:rPr sz="1300" b="1">
                <a:solidFill>
                  <a:srgbClr val="E65100"/>
                </a:solidFill>
                <a:latin typeface="Segoe UI"/>
              </a:rPr>
              <a:t>Key: </a:t>
            </a:r>
            <a:r>
              <a:rPr sz="1300">
                <a:solidFill>
                  <a:srgbClr val="1A1A1A"/>
                </a:solidFill>
                <a:latin typeface="Segoe UI"/>
              </a:rPr>
              <a:t>Like handing a rough draft to the best copy editor in the building — except they work instantly and show you every red-pen mark with an explanation.</a:t>
            </a:r>
          </a:p>
        </p:txBody>
      </p:sp>
      <p:sp>
        <p:nvSpPr>
          <p:cNvPr id="22" name="Rounded Rectangle 21"/>
          <p:cNvSpPr/>
          <p:nvPr/>
        </p:nvSpPr>
        <p:spPr>
          <a:xfrm>
            <a:off x="700887" y="4297680"/>
            <a:ext cx="3291840" cy="128016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3767" y="4526280"/>
            <a:ext cx="2926080" cy="274320"/>
          </a:xfrm>
          <a:prstGeom prst="rect">
            <a:avLst/>
          </a:prstGeom>
          <a:noFill/>
        </p:spPr>
        <p:txBody>
          <a:bodyPr wrap="square">
            <a:spAutoFit/>
          </a:bodyPr>
          <a:lstStyle/>
          <a:p>
            <a:pPr algn="ctr">
              <a:defRPr sz="1500" b="1" i="0">
                <a:solidFill>
                  <a:srgbClr val="1A1A1A"/>
                </a:solidFill>
                <a:latin typeface="Segoe UI"/>
              </a:defRPr>
            </a:pPr>
            <a:r>
              <a:t>Nothing Stored</a:t>
            </a:r>
          </a:p>
        </p:txBody>
      </p:sp>
      <p:sp>
        <p:nvSpPr>
          <p:cNvPr id="24" name="TextBox 23"/>
          <p:cNvSpPr txBox="1"/>
          <p:nvPr/>
        </p:nvSpPr>
        <p:spPr>
          <a:xfrm>
            <a:off x="883767" y="4846320"/>
            <a:ext cx="2926080" cy="640080"/>
          </a:xfrm>
          <a:prstGeom prst="rect">
            <a:avLst/>
          </a:prstGeom>
          <a:noFill/>
        </p:spPr>
        <p:txBody>
          <a:bodyPr wrap="square">
            <a:spAutoFit/>
          </a:bodyPr>
          <a:lstStyle/>
          <a:p>
            <a:pPr algn="ctr">
              <a:defRPr sz="1100" b="0" i="0">
                <a:solidFill>
                  <a:srgbClr val="555555"/>
                </a:solidFill>
                <a:latin typeface="Segoe UI"/>
              </a:defRPr>
            </a:pPr>
            <a:r>
              <a:t>Text in, clean text out.</a:t>
            </a:r>
            <a:br/>
            <a:r>
              <a:t>No data touches the database.</a:t>
            </a:r>
          </a:p>
        </p:txBody>
      </p:sp>
      <p:sp>
        <p:nvSpPr>
          <p:cNvPr id="25" name="Rounded Rectangle 24"/>
          <p:cNvSpPr/>
          <p:nvPr/>
        </p:nvSpPr>
        <p:spPr>
          <a:xfrm>
            <a:off x="4449927" y="4297680"/>
            <a:ext cx="3291840" cy="128016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32807" y="4526280"/>
            <a:ext cx="2926080" cy="274320"/>
          </a:xfrm>
          <a:prstGeom prst="rect">
            <a:avLst/>
          </a:prstGeom>
          <a:noFill/>
        </p:spPr>
        <p:txBody>
          <a:bodyPr wrap="square">
            <a:spAutoFit/>
          </a:bodyPr>
          <a:lstStyle/>
          <a:p>
            <a:pPr algn="ctr">
              <a:defRPr sz="1500" b="1" i="0">
                <a:solidFill>
                  <a:srgbClr val="1A1A1A"/>
                </a:solidFill>
                <a:latin typeface="Segoe UI"/>
              </a:defRPr>
            </a:pPr>
            <a:r>
              <a:t>~$120–195/mo</a:t>
            </a:r>
          </a:p>
        </p:txBody>
      </p:sp>
      <p:sp>
        <p:nvSpPr>
          <p:cNvPr id="27" name="TextBox 26"/>
          <p:cNvSpPr txBox="1"/>
          <p:nvPr/>
        </p:nvSpPr>
        <p:spPr>
          <a:xfrm>
            <a:off x="4632807" y="4846320"/>
            <a:ext cx="2926080" cy="640080"/>
          </a:xfrm>
          <a:prstGeom prst="rect">
            <a:avLst/>
          </a:prstGeom>
          <a:noFill/>
        </p:spPr>
        <p:txBody>
          <a:bodyPr wrap="square">
            <a:spAutoFit/>
          </a:bodyPr>
          <a:lstStyle/>
          <a:p>
            <a:pPr algn="ctr">
              <a:defRPr sz="1100" b="0" i="0">
                <a:solidFill>
                  <a:srgbClr val="555555"/>
                </a:solidFill>
                <a:latin typeface="Segoe UI"/>
              </a:defRPr>
            </a:pPr>
            <a:r>
              <a:t>Total platform cost.</a:t>
            </a:r>
            <a:br/>
            <a:r>
              <a:t>Serverless — scales to zero when idle.</a:t>
            </a:r>
          </a:p>
        </p:txBody>
      </p:sp>
      <p:sp>
        <p:nvSpPr>
          <p:cNvPr id="28" name="Rounded Rectangle 27"/>
          <p:cNvSpPr/>
          <p:nvPr/>
        </p:nvSpPr>
        <p:spPr>
          <a:xfrm>
            <a:off x="8198967" y="4297680"/>
            <a:ext cx="3291840" cy="128016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1847" y="4526280"/>
            <a:ext cx="2926080" cy="274320"/>
          </a:xfrm>
          <a:prstGeom prst="rect">
            <a:avLst/>
          </a:prstGeom>
          <a:noFill/>
        </p:spPr>
        <p:txBody>
          <a:bodyPr wrap="square">
            <a:spAutoFit/>
          </a:bodyPr>
          <a:lstStyle/>
          <a:p>
            <a:pPr algn="ctr">
              <a:defRPr sz="1500" b="1" i="0">
                <a:solidFill>
                  <a:srgbClr val="1A1A1A"/>
                </a:solidFill>
                <a:latin typeface="Segoe UI"/>
              </a:defRPr>
            </a:pPr>
            <a:r>
              <a:t>Zero Passwords in Code</a:t>
            </a:r>
          </a:p>
        </p:txBody>
      </p:sp>
      <p:sp>
        <p:nvSpPr>
          <p:cNvPr id="30" name="TextBox 29"/>
          <p:cNvSpPr txBox="1"/>
          <p:nvPr/>
        </p:nvSpPr>
        <p:spPr>
          <a:xfrm>
            <a:off x="8381847" y="4846320"/>
            <a:ext cx="2926080" cy="640080"/>
          </a:xfrm>
          <a:prstGeom prst="rect">
            <a:avLst/>
          </a:prstGeom>
          <a:noFill/>
        </p:spPr>
        <p:txBody>
          <a:bodyPr wrap="square">
            <a:spAutoFit/>
          </a:bodyPr>
          <a:lstStyle/>
          <a:p>
            <a:pPr algn="ctr">
              <a:defRPr sz="1100" b="0" i="0">
                <a:solidFill>
                  <a:srgbClr val="555555"/>
                </a:solidFill>
                <a:latin typeface="Segoe UI"/>
              </a:defRPr>
            </a:pPr>
            <a:r>
              <a:t>Managed identity everywhere.</a:t>
            </a:r>
            <a:br/>
            <a:r>
              <a:t>Data stays in the state's Azure tenant.</a:t>
            </a:r>
          </a:p>
        </p:txBody>
      </p:sp>
      <p:sp>
        <p:nvSpPr>
          <p:cNvPr id="31" name="TextBox 30"/>
          <p:cNvSpPr txBox="1"/>
          <p:nvPr/>
        </p:nvSpPr>
        <p:spPr>
          <a:xfrm>
            <a:off x="548640" y="6446520"/>
            <a:ext cx="4572000" cy="274320"/>
          </a:xfrm>
          <a:prstGeom prst="rect">
            <a:avLst/>
          </a:prstGeom>
          <a:noFill/>
        </p:spPr>
        <p:txBody>
          <a:bodyPr wrap="square">
            <a:spAutoFit/>
          </a:bodyPr>
          <a:lstStyle/>
          <a:p>
            <a:pPr algn="l">
              <a:defRPr sz="900" b="0" i="0">
                <a:solidFill>
                  <a:srgbClr val="BBBBBB"/>
                </a:solidFill>
                <a:latin typeface="Segoe UI"/>
              </a:defRPr>
            </a:pPr>
            <a:r>
              <a:t>NC DIT AI Office</a:t>
            </a:r>
          </a:p>
        </p:txBody>
      </p:sp>
      <p:sp>
        <p:nvSpPr>
          <p:cNvPr id="32" name="TextBox 31"/>
          <p:cNvSpPr txBox="1"/>
          <p:nvPr/>
        </p:nvSpPr>
        <p:spPr>
          <a:xfrm>
            <a:off x="6858000" y="6446520"/>
            <a:ext cx="4572000" cy="274320"/>
          </a:xfrm>
          <a:prstGeom prst="rect">
            <a:avLst/>
          </a:prstGeom>
          <a:noFill/>
        </p:spPr>
        <p:txBody>
          <a:bodyPr wrap="square">
            <a:spAutoFit/>
          </a:bodyPr>
          <a:lstStyle/>
          <a:p>
            <a:pPr algn="r">
              <a:defRPr sz="900" b="0" i="0">
                <a:solidFill>
                  <a:srgbClr val="BBBBBB"/>
                </a:solidFill>
                <a:latin typeface="Segoe UI"/>
              </a:defRPr>
            </a:pPr>
            <a:r>
              <a:t>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7B2D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3200" b="1" i="0">
                <a:solidFill>
                  <a:srgbClr val="FFFFFF"/>
                </a:solidFill>
                <a:latin typeface="Segoe UI"/>
              </a:defRPr>
            </a:pPr>
            <a:r>
              <a:t>What’s Next — Power Platform</a:t>
            </a:r>
          </a:p>
        </p:txBody>
      </p:sp>
      <p:sp>
        <p:nvSpPr>
          <p:cNvPr id="4" name="TextBox 3"/>
          <p:cNvSpPr txBox="1"/>
          <p:nvPr/>
        </p:nvSpPr>
        <p:spPr>
          <a:xfrm>
            <a:off x="548640" y="594360"/>
            <a:ext cx="10058400" cy="365760"/>
          </a:xfrm>
          <a:prstGeom prst="rect">
            <a:avLst/>
          </a:prstGeom>
          <a:noFill/>
        </p:spPr>
        <p:txBody>
          <a:bodyPr wrap="square">
            <a:spAutoFit/>
          </a:bodyPr>
          <a:lstStyle/>
          <a:p>
            <a:pPr algn="l">
              <a:defRPr sz="1500" b="0" i="0">
                <a:solidFill>
                  <a:srgbClr val="E8D5F5"/>
                </a:solidFill>
                <a:latin typeface="Segoe UI"/>
              </a:defRPr>
            </a:pPr>
            <a:r>
              <a:t>Azure does the heavy lifting. Power Platform delivers the experience.</a:t>
            </a:r>
          </a:p>
        </p:txBody>
      </p:sp>
      <p:sp>
        <p:nvSpPr>
          <p:cNvPr id="5" name="Rounded Rectangle 4"/>
          <p:cNvSpPr/>
          <p:nvPr/>
        </p:nvSpPr>
        <p:spPr>
          <a:xfrm>
            <a:off x="700887" y="1463040"/>
            <a:ext cx="3291840" cy="256032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163927" y="1645920"/>
            <a:ext cx="365760" cy="365760"/>
          </a:xfrm>
          <a:prstGeom prst="ellipse">
            <a:avLst/>
          </a:prstGeom>
          <a:solidFill>
            <a:srgbClr val="7B2D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Segoe UI"/>
              </a:defRPr>
            </a:pPr>
            <a:r>
              <a:t>1</a:t>
            </a:r>
          </a:p>
        </p:txBody>
      </p:sp>
      <p:sp>
        <p:nvSpPr>
          <p:cNvPr id="7" name="TextBox 6"/>
          <p:cNvSpPr txBox="1"/>
          <p:nvPr/>
        </p:nvSpPr>
        <p:spPr>
          <a:xfrm>
            <a:off x="883767" y="2148840"/>
            <a:ext cx="2926080" cy="274320"/>
          </a:xfrm>
          <a:prstGeom prst="rect">
            <a:avLst/>
          </a:prstGeom>
          <a:noFill/>
        </p:spPr>
        <p:txBody>
          <a:bodyPr wrap="square">
            <a:spAutoFit/>
          </a:bodyPr>
          <a:lstStyle/>
          <a:p>
            <a:pPr algn="ctr">
              <a:defRPr sz="1700" b="1" i="0">
                <a:solidFill>
                  <a:srgbClr val="1A1A1A"/>
                </a:solidFill>
                <a:latin typeface="Segoe UI"/>
              </a:defRPr>
            </a:pPr>
            <a:r>
              <a:t>Daily Digest Email</a:t>
            </a:r>
          </a:p>
        </p:txBody>
      </p:sp>
      <p:sp>
        <p:nvSpPr>
          <p:cNvPr id="8" name="TextBox 7"/>
          <p:cNvSpPr txBox="1"/>
          <p:nvPr/>
        </p:nvSpPr>
        <p:spPr>
          <a:xfrm>
            <a:off x="883767" y="2560320"/>
            <a:ext cx="2926080" cy="1280160"/>
          </a:xfrm>
          <a:prstGeom prst="rect">
            <a:avLst/>
          </a:prstGeom>
          <a:noFill/>
        </p:spPr>
        <p:txBody>
          <a:bodyPr wrap="square">
            <a:spAutoFit/>
          </a:bodyPr>
          <a:lstStyle/>
          <a:p>
            <a:pPr algn="ctr">
              <a:defRPr sz="1200" b="0" i="0">
                <a:solidFill>
                  <a:srgbClr val="555555"/>
                </a:solidFill>
                <a:latin typeface="Segoe UI"/>
              </a:defRPr>
            </a:pPr>
            <a:r>
              <a:t>Power Automate scheduled flow sends a morning clips summary via Outlook. Unblocks a stubbed feature with zero new Azure resources.</a:t>
            </a:r>
          </a:p>
        </p:txBody>
      </p:sp>
      <p:sp>
        <p:nvSpPr>
          <p:cNvPr id="9" name="Rounded Rectangle 8"/>
          <p:cNvSpPr/>
          <p:nvPr/>
        </p:nvSpPr>
        <p:spPr>
          <a:xfrm>
            <a:off x="4449927" y="1463040"/>
            <a:ext cx="3291840" cy="256032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12967" y="1645920"/>
            <a:ext cx="365760" cy="365760"/>
          </a:xfrm>
          <a:prstGeom prst="ellipse">
            <a:avLst/>
          </a:prstGeom>
          <a:solidFill>
            <a:srgbClr val="7B2D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Segoe UI"/>
              </a:defRPr>
            </a:pPr>
            <a:r>
              <a:t>2</a:t>
            </a:r>
          </a:p>
        </p:txBody>
      </p:sp>
      <p:sp>
        <p:nvSpPr>
          <p:cNvPr id="11" name="TextBox 10"/>
          <p:cNvSpPr txBox="1"/>
          <p:nvPr/>
        </p:nvSpPr>
        <p:spPr>
          <a:xfrm>
            <a:off x="4632807" y="2148840"/>
            <a:ext cx="2926080" cy="274320"/>
          </a:xfrm>
          <a:prstGeom prst="rect">
            <a:avLst/>
          </a:prstGeom>
          <a:noFill/>
        </p:spPr>
        <p:txBody>
          <a:bodyPr wrap="square">
            <a:spAutoFit/>
          </a:bodyPr>
          <a:lstStyle/>
          <a:p>
            <a:pPr algn="ctr">
              <a:defRPr sz="1700" b="1" i="0">
                <a:solidFill>
                  <a:srgbClr val="1A1A1A"/>
                </a:solidFill>
                <a:latin typeface="Segoe UI"/>
              </a:defRPr>
            </a:pPr>
            <a:r>
              <a:t>Dataverse for Metadata</a:t>
            </a:r>
          </a:p>
        </p:txBody>
      </p:sp>
      <p:sp>
        <p:nvSpPr>
          <p:cNvPr id="12" name="TextBox 11"/>
          <p:cNvSpPr txBox="1"/>
          <p:nvPr/>
        </p:nvSpPr>
        <p:spPr>
          <a:xfrm>
            <a:off x="4632807" y="2560320"/>
            <a:ext cx="2926080" cy="1280160"/>
          </a:xfrm>
          <a:prstGeom prst="rect">
            <a:avLst/>
          </a:prstGeom>
          <a:noFill/>
        </p:spPr>
        <p:txBody>
          <a:bodyPr wrap="square">
            <a:spAutoFit/>
          </a:bodyPr>
          <a:lstStyle/>
          <a:p>
            <a:pPr algn="ctr">
              <a:defRPr sz="1200" b="0" i="0">
                <a:solidFill>
                  <a:srgbClr val="555555"/>
                </a:solidFill>
                <a:latin typeface="Segoe UI"/>
              </a:defRPr>
            </a:pPr>
            <a:r>
              <a:t>Move clips + remarks metadata to Dataverse. Staff can browse and edit in a model-driven app — no code needed.</a:t>
            </a:r>
          </a:p>
        </p:txBody>
      </p:sp>
      <p:sp>
        <p:nvSpPr>
          <p:cNvPr id="13" name="Rounded Rectangle 12"/>
          <p:cNvSpPr/>
          <p:nvPr/>
        </p:nvSpPr>
        <p:spPr>
          <a:xfrm>
            <a:off x="8198967" y="1463040"/>
            <a:ext cx="3291840" cy="256032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62007" y="1645920"/>
            <a:ext cx="365760" cy="365760"/>
          </a:xfrm>
          <a:prstGeom prst="ellipse">
            <a:avLst/>
          </a:prstGeom>
          <a:solidFill>
            <a:srgbClr val="7B2D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Segoe UI"/>
              </a:defRPr>
            </a:pPr>
            <a:r>
              <a:t>3</a:t>
            </a:r>
          </a:p>
        </p:txBody>
      </p:sp>
      <p:sp>
        <p:nvSpPr>
          <p:cNvPr id="15" name="TextBox 14"/>
          <p:cNvSpPr txBox="1"/>
          <p:nvPr/>
        </p:nvSpPr>
        <p:spPr>
          <a:xfrm>
            <a:off x="8381847" y="2148840"/>
            <a:ext cx="2926080" cy="274320"/>
          </a:xfrm>
          <a:prstGeom prst="rect">
            <a:avLst/>
          </a:prstGeom>
          <a:noFill/>
        </p:spPr>
        <p:txBody>
          <a:bodyPr wrap="square">
            <a:spAutoFit/>
          </a:bodyPr>
          <a:lstStyle/>
          <a:p>
            <a:pPr algn="ctr">
              <a:defRPr sz="1700" b="1" i="0">
                <a:solidFill>
                  <a:srgbClr val="1A1A1A"/>
                </a:solidFill>
                <a:latin typeface="Segoe UI"/>
              </a:defRPr>
            </a:pPr>
            <a:r>
              <a:t>Reliable Blob Trigger</a:t>
            </a:r>
          </a:p>
        </p:txBody>
      </p:sp>
      <p:sp>
        <p:nvSpPr>
          <p:cNvPr id="16" name="TextBox 15"/>
          <p:cNvSpPr txBox="1"/>
          <p:nvPr/>
        </p:nvSpPr>
        <p:spPr>
          <a:xfrm>
            <a:off x="8381847" y="2560320"/>
            <a:ext cx="2926080" cy="1280160"/>
          </a:xfrm>
          <a:prstGeom prst="rect">
            <a:avLst/>
          </a:prstGeom>
          <a:noFill/>
        </p:spPr>
        <p:txBody>
          <a:bodyPr wrap="square">
            <a:spAutoFit/>
          </a:bodyPr>
          <a:lstStyle/>
          <a:p>
            <a:pPr algn="ctr">
              <a:defRPr sz="1200" b="0" i="0">
                <a:solidFill>
                  <a:srgbClr val="555555"/>
                </a:solidFill>
                <a:latin typeface="Segoe UI"/>
              </a:defRPr>
            </a:pPr>
            <a:r>
              <a:t>Power Automate “When a blob is created” trigger replaces the unreliable Flex Consumption blob trigger for remarks ingestion.</a:t>
            </a:r>
          </a:p>
        </p:txBody>
      </p:sp>
      <p:sp>
        <p:nvSpPr>
          <p:cNvPr id="17" name="Rounded Rectangle 16"/>
          <p:cNvSpPr/>
          <p:nvPr/>
        </p:nvSpPr>
        <p:spPr>
          <a:xfrm>
            <a:off x="548640" y="4389120"/>
            <a:ext cx="10789920" cy="640080"/>
          </a:xfrm>
          <a:prstGeom prst="roundRect">
            <a:avLst>
              <a:gd name="adj" fmla="val 5000"/>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462272"/>
            <a:ext cx="10424160" cy="493776"/>
          </a:xfrm>
          <a:prstGeom prst="rect">
            <a:avLst/>
          </a:prstGeom>
          <a:noFill/>
        </p:spPr>
        <p:txBody>
          <a:bodyPr wrap="square">
            <a:spAutoFit/>
          </a:bodyPr>
          <a:lstStyle/>
          <a:p>
            <a:pPr algn="l">
              <a:defRPr sz="1300" b="0" i="0">
                <a:solidFill>
                  <a:srgbClr val="1A1A1A"/>
                </a:solidFill>
                <a:latin typeface="Segoe UI"/>
              </a:defRPr>
            </a:pPr>
            <a:r>
              <a:rPr sz="1300" b="1">
                <a:solidFill>
                  <a:srgbClr val="E65100"/>
                </a:solidFill>
                <a:latin typeface="Segoe UI"/>
              </a:rPr>
              <a:t>Hybrid approach: </a:t>
            </a:r>
            <a:r>
              <a:rPr sz="1300">
                <a:solidFill>
                  <a:srgbClr val="1A1A1A"/>
                </a:solidFill>
                <a:latin typeface="Segoe UI"/>
              </a:rPr>
              <a:t>AI Search, OpenAI, and the RAG pipeline stay in Azure where they belong. Power Platform handles orchestration, notifications, and the data experience.</a:t>
            </a:r>
          </a:p>
        </p:txBody>
      </p:sp>
      <p:sp>
        <p:nvSpPr>
          <p:cNvPr id="19" name="TextBox 18"/>
          <p:cNvSpPr txBox="1"/>
          <p:nvPr/>
        </p:nvSpPr>
        <p:spPr>
          <a:xfrm>
            <a:off x="548640" y="6446520"/>
            <a:ext cx="4572000" cy="274320"/>
          </a:xfrm>
          <a:prstGeom prst="rect">
            <a:avLst/>
          </a:prstGeom>
          <a:noFill/>
        </p:spPr>
        <p:txBody>
          <a:bodyPr wrap="square">
            <a:spAutoFit/>
          </a:bodyPr>
          <a:lstStyle/>
          <a:p>
            <a:pPr algn="l">
              <a:defRPr sz="900" b="0" i="0">
                <a:solidFill>
                  <a:srgbClr val="BBBBBB"/>
                </a:solidFill>
                <a:latin typeface="Segoe UI"/>
              </a:defRPr>
            </a:pPr>
            <a:r>
              <a:t>NC DIT AI Office</a:t>
            </a:r>
          </a:p>
        </p:txBody>
      </p:sp>
      <p:sp>
        <p:nvSpPr>
          <p:cNvPr id="20" name="TextBox 19"/>
          <p:cNvSpPr txBox="1"/>
          <p:nvPr/>
        </p:nvSpPr>
        <p:spPr>
          <a:xfrm>
            <a:off x="6858000" y="6446520"/>
            <a:ext cx="4572000" cy="274320"/>
          </a:xfrm>
          <a:prstGeom prst="rect">
            <a:avLst/>
          </a:prstGeom>
          <a:noFill/>
        </p:spPr>
        <p:txBody>
          <a:bodyPr wrap="square">
            <a:spAutoFit/>
          </a:bodyPr>
          <a:lstStyle/>
          <a:p>
            <a:pPr algn="r">
              <a:defRPr sz="900" b="0" i="0">
                <a:solidFill>
                  <a:srgbClr val="BBBBBB"/>
                </a:solidFill>
                <a:latin typeface="Segoe UI"/>
              </a:defRPr>
            </a:pPr>
            <a:r>
              <a:t>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2463"/>
        </a:solidFill>
        <a:effectLst/>
      </p:bgPr>
    </p:bg>
    <p:spTree>
      <p:nvGrpSpPr>
        <p:cNvPr id="1" name=""/>
        <p:cNvGrpSpPr/>
        <p:nvPr/>
      </p:nvGrpSpPr>
      <p:grpSpPr/>
      <p:sp>
        <p:nvSpPr>
          <p:cNvPr id="2" name="TextBox 1"/>
          <p:cNvSpPr txBox="1"/>
          <p:nvPr/>
        </p:nvSpPr>
        <p:spPr>
          <a:xfrm>
            <a:off x="548640" y="228600"/>
            <a:ext cx="10972800" cy="502920"/>
          </a:xfrm>
          <a:prstGeom prst="rect">
            <a:avLst/>
          </a:prstGeom>
          <a:noFill/>
        </p:spPr>
        <p:txBody>
          <a:bodyPr wrap="square">
            <a:spAutoFit/>
          </a:bodyPr>
          <a:lstStyle/>
          <a:p>
            <a:pPr algn="ctr">
              <a:defRPr sz="3400" b="1" i="0">
                <a:solidFill>
                  <a:srgbClr val="FFFFFF"/>
                </a:solidFill>
                <a:latin typeface="Segoe UI"/>
              </a:defRPr>
            </a:pPr>
            <a:r>
              <a:t>Architecture Overview</a:t>
            </a:r>
          </a:p>
        </p:txBody>
      </p:sp>
      <p:sp>
        <p:nvSpPr>
          <p:cNvPr id="3" name="TextBox 2"/>
          <p:cNvSpPr txBox="1"/>
          <p:nvPr/>
        </p:nvSpPr>
        <p:spPr>
          <a:xfrm>
            <a:off x="548640" y="685800"/>
            <a:ext cx="10972800" cy="274320"/>
          </a:xfrm>
          <a:prstGeom prst="rect">
            <a:avLst/>
          </a:prstGeom>
          <a:noFill/>
        </p:spPr>
        <p:txBody>
          <a:bodyPr wrap="square">
            <a:spAutoFit/>
          </a:bodyPr>
          <a:lstStyle/>
          <a:p>
            <a:pPr algn="ctr">
              <a:defRPr sz="1400" b="0" i="0">
                <a:solidFill>
                  <a:srgbClr val="BBCCFF"/>
                </a:solidFill>
                <a:latin typeface="Segoe UI"/>
              </a:defRPr>
            </a:pPr>
            <a:r>
              <a:t>End-to-end service topology on Azure</a:t>
            </a:r>
          </a:p>
        </p:txBody>
      </p:sp>
      <p:sp>
        <p:nvSpPr>
          <p:cNvPr id="4" name="Rounded Rectangle 3"/>
          <p:cNvSpPr/>
          <p:nvPr/>
        </p:nvSpPr>
        <p:spPr>
          <a:xfrm>
            <a:off x="320040" y="1554480"/>
            <a:ext cx="1783080" cy="1051560"/>
          </a:xfrm>
          <a:prstGeom prst="roundRect">
            <a:avLst>
              <a:gd name="adj" fmla="val 5000"/>
            </a:avLst>
          </a:prstGeom>
          <a:solidFill>
            <a:srgbClr val="153870"/>
          </a:solidFill>
          <a:ln w="12700">
            <a:solidFill>
              <a:srgbClr val="335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93192" y="1691640"/>
            <a:ext cx="1636776" cy="274320"/>
          </a:xfrm>
          <a:prstGeom prst="rect">
            <a:avLst/>
          </a:prstGeom>
          <a:noFill/>
        </p:spPr>
        <p:txBody>
          <a:bodyPr wrap="square">
            <a:spAutoFit/>
          </a:bodyPr>
          <a:lstStyle/>
          <a:p>
            <a:pPr algn="ctr">
              <a:defRPr sz="1300" b="1" i="0">
                <a:solidFill>
                  <a:srgbClr val="FFFFFF"/>
                </a:solidFill>
                <a:latin typeface="Segoe UI"/>
              </a:defRPr>
            </a:pPr>
            <a:r>
              <a:t>Teams / Web</a:t>
            </a:r>
          </a:p>
        </p:txBody>
      </p:sp>
      <p:sp>
        <p:nvSpPr>
          <p:cNvPr id="6" name="TextBox 5"/>
          <p:cNvSpPr txBox="1"/>
          <p:nvPr/>
        </p:nvSpPr>
        <p:spPr>
          <a:xfrm>
            <a:off x="393192" y="2011680"/>
            <a:ext cx="1636776" cy="502920"/>
          </a:xfrm>
          <a:prstGeom prst="rect">
            <a:avLst/>
          </a:prstGeom>
          <a:noFill/>
        </p:spPr>
        <p:txBody>
          <a:bodyPr wrap="square">
            <a:spAutoFit/>
          </a:bodyPr>
          <a:lstStyle/>
          <a:p>
            <a:pPr algn="ctr">
              <a:defRPr sz="900" b="0" i="0">
                <a:solidFill>
                  <a:srgbClr val="AABBDD"/>
                </a:solidFill>
                <a:latin typeface="Segoe UI"/>
              </a:defRPr>
            </a:pPr>
            <a:r>
              <a:t>Users ask questions</a:t>
            </a:r>
            <a:br/>
            <a:r>
              <a:t>or paste transcripts</a:t>
            </a:r>
          </a:p>
        </p:txBody>
      </p:sp>
      <p:sp>
        <p:nvSpPr>
          <p:cNvPr id="7" name="TextBox 6"/>
          <p:cNvSpPr txBox="1"/>
          <p:nvPr/>
        </p:nvSpPr>
        <p:spPr>
          <a:xfrm>
            <a:off x="2103120" y="1943100"/>
            <a:ext cx="365760" cy="274320"/>
          </a:xfrm>
          <a:prstGeom prst="rect">
            <a:avLst/>
          </a:prstGeom>
          <a:noFill/>
        </p:spPr>
        <p:txBody>
          <a:bodyPr wrap="square">
            <a:spAutoFit/>
          </a:bodyPr>
          <a:lstStyle/>
          <a:p>
            <a:pPr algn="ctr">
              <a:defRPr sz="2200" b="0" i="0">
                <a:solidFill>
                  <a:srgbClr val="5577BB"/>
                </a:solidFill>
                <a:latin typeface="Segoe UI"/>
              </a:defRPr>
            </a:pPr>
            <a:r>
              <a:t>→</a:t>
            </a:r>
          </a:p>
        </p:txBody>
      </p:sp>
      <p:sp>
        <p:nvSpPr>
          <p:cNvPr id="8" name="Rounded Rectangle 7"/>
          <p:cNvSpPr/>
          <p:nvPr/>
        </p:nvSpPr>
        <p:spPr>
          <a:xfrm>
            <a:off x="2468880" y="1554480"/>
            <a:ext cx="1783080" cy="1051560"/>
          </a:xfrm>
          <a:prstGeom prst="roundRect">
            <a:avLst>
              <a:gd name="adj" fmla="val 5000"/>
            </a:avLst>
          </a:prstGeom>
          <a:solidFill>
            <a:srgbClr val="1A4080"/>
          </a:solidFill>
          <a:ln w="12700">
            <a:solidFill>
              <a:srgbClr val="335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42032" y="1691640"/>
            <a:ext cx="1636776" cy="274320"/>
          </a:xfrm>
          <a:prstGeom prst="rect">
            <a:avLst/>
          </a:prstGeom>
          <a:noFill/>
        </p:spPr>
        <p:txBody>
          <a:bodyPr wrap="square">
            <a:spAutoFit/>
          </a:bodyPr>
          <a:lstStyle/>
          <a:p>
            <a:pPr algn="ctr">
              <a:defRPr sz="1300" b="1" i="0">
                <a:solidFill>
                  <a:srgbClr val="FFFFFF"/>
                </a:solidFill>
                <a:latin typeface="Segoe UI"/>
              </a:defRPr>
            </a:pPr>
            <a:r>
              <a:t>Copilot Studio</a:t>
            </a:r>
          </a:p>
        </p:txBody>
      </p:sp>
      <p:sp>
        <p:nvSpPr>
          <p:cNvPr id="10" name="TextBox 9"/>
          <p:cNvSpPr txBox="1"/>
          <p:nvPr/>
        </p:nvSpPr>
        <p:spPr>
          <a:xfrm>
            <a:off x="2542032" y="2011680"/>
            <a:ext cx="1636776" cy="502920"/>
          </a:xfrm>
          <a:prstGeom prst="rect">
            <a:avLst/>
          </a:prstGeom>
          <a:noFill/>
        </p:spPr>
        <p:txBody>
          <a:bodyPr wrap="square">
            <a:spAutoFit/>
          </a:bodyPr>
          <a:lstStyle/>
          <a:p>
            <a:pPr algn="ctr">
              <a:defRPr sz="900" b="0" i="0">
                <a:solidFill>
                  <a:srgbClr val="AABBDD"/>
                </a:solidFill>
                <a:latin typeface="Segoe UI"/>
              </a:defRPr>
            </a:pPr>
            <a:r>
              <a:t>Agent orchestration</a:t>
            </a:r>
            <a:br/>
            <a:r>
              <a:t>routes to the right skill</a:t>
            </a:r>
          </a:p>
        </p:txBody>
      </p:sp>
      <p:sp>
        <p:nvSpPr>
          <p:cNvPr id="11" name="TextBox 10"/>
          <p:cNvSpPr txBox="1"/>
          <p:nvPr/>
        </p:nvSpPr>
        <p:spPr>
          <a:xfrm>
            <a:off x="4251960" y="1943100"/>
            <a:ext cx="365760" cy="274320"/>
          </a:xfrm>
          <a:prstGeom prst="rect">
            <a:avLst/>
          </a:prstGeom>
          <a:noFill/>
        </p:spPr>
        <p:txBody>
          <a:bodyPr wrap="square">
            <a:spAutoFit/>
          </a:bodyPr>
          <a:lstStyle/>
          <a:p>
            <a:pPr algn="ctr">
              <a:defRPr sz="2200" b="0" i="0">
                <a:solidFill>
                  <a:srgbClr val="5577BB"/>
                </a:solidFill>
                <a:latin typeface="Segoe UI"/>
              </a:defRPr>
            </a:pPr>
            <a:r>
              <a:t>→</a:t>
            </a:r>
          </a:p>
        </p:txBody>
      </p:sp>
      <p:sp>
        <p:nvSpPr>
          <p:cNvPr id="12" name="Rounded Rectangle 11"/>
          <p:cNvSpPr/>
          <p:nvPr/>
        </p:nvSpPr>
        <p:spPr>
          <a:xfrm>
            <a:off x="4617720" y="1554480"/>
            <a:ext cx="1783080" cy="1051560"/>
          </a:xfrm>
          <a:prstGeom prst="roundRect">
            <a:avLst>
              <a:gd name="adj" fmla="val 5000"/>
            </a:avLst>
          </a:prstGeom>
          <a:solidFill>
            <a:srgbClr val="153870"/>
          </a:solidFill>
          <a:ln w="12700">
            <a:solidFill>
              <a:srgbClr val="335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90872" y="1691640"/>
            <a:ext cx="1636776" cy="274320"/>
          </a:xfrm>
          <a:prstGeom prst="rect">
            <a:avLst/>
          </a:prstGeom>
          <a:noFill/>
        </p:spPr>
        <p:txBody>
          <a:bodyPr wrap="square">
            <a:spAutoFit/>
          </a:bodyPr>
          <a:lstStyle/>
          <a:p>
            <a:pPr algn="ctr">
              <a:defRPr sz="1300" b="1" i="0">
                <a:solidFill>
                  <a:srgbClr val="FFFFFF"/>
                </a:solidFill>
                <a:latin typeface="Segoe UI"/>
              </a:defRPr>
            </a:pPr>
            <a:r>
              <a:t>API Management</a:t>
            </a:r>
          </a:p>
        </p:txBody>
      </p:sp>
      <p:sp>
        <p:nvSpPr>
          <p:cNvPr id="14" name="TextBox 13"/>
          <p:cNvSpPr txBox="1"/>
          <p:nvPr/>
        </p:nvSpPr>
        <p:spPr>
          <a:xfrm>
            <a:off x="4690872" y="2011680"/>
            <a:ext cx="1636776" cy="502920"/>
          </a:xfrm>
          <a:prstGeom prst="rect">
            <a:avLst/>
          </a:prstGeom>
          <a:noFill/>
        </p:spPr>
        <p:txBody>
          <a:bodyPr wrap="square">
            <a:spAutoFit/>
          </a:bodyPr>
          <a:lstStyle/>
          <a:p>
            <a:pPr algn="ctr">
              <a:defRPr sz="900" b="0" i="0">
                <a:solidFill>
                  <a:srgbClr val="AABBDD"/>
                </a:solidFill>
                <a:latin typeface="Segoe UI"/>
              </a:defRPr>
            </a:pPr>
            <a:r>
              <a:t>Auth gateway</a:t>
            </a:r>
            <a:br/>
            <a:r>
              <a:t>subscription key + routing</a:t>
            </a:r>
          </a:p>
        </p:txBody>
      </p:sp>
      <p:sp>
        <p:nvSpPr>
          <p:cNvPr id="15" name="TextBox 14"/>
          <p:cNvSpPr txBox="1"/>
          <p:nvPr/>
        </p:nvSpPr>
        <p:spPr>
          <a:xfrm>
            <a:off x="6400800" y="1943100"/>
            <a:ext cx="365760" cy="274320"/>
          </a:xfrm>
          <a:prstGeom prst="rect">
            <a:avLst/>
          </a:prstGeom>
          <a:noFill/>
        </p:spPr>
        <p:txBody>
          <a:bodyPr wrap="square">
            <a:spAutoFit/>
          </a:bodyPr>
          <a:lstStyle/>
          <a:p>
            <a:pPr algn="ctr">
              <a:defRPr sz="2200" b="0" i="0">
                <a:solidFill>
                  <a:srgbClr val="5577BB"/>
                </a:solidFill>
                <a:latin typeface="Segoe UI"/>
              </a:defRPr>
            </a:pPr>
            <a:r>
              <a:t>→</a:t>
            </a:r>
          </a:p>
        </p:txBody>
      </p:sp>
      <p:sp>
        <p:nvSpPr>
          <p:cNvPr id="16" name="Rounded Rectangle 15"/>
          <p:cNvSpPr/>
          <p:nvPr/>
        </p:nvSpPr>
        <p:spPr>
          <a:xfrm>
            <a:off x="6766560" y="1554480"/>
            <a:ext cx="1783080" cy="1051560"/>
          </a:xfrm>
          <a:prstGeom prst="roundRect">
            <a:avLst>
              <a:gd name="adj" fmla="val 5000"/>
            </a:avLst>
          </a:prstGeom>
          <a:solidFill>
            <a:srgbClr val="1A4080"/>
          </a:solidFill>
          <a:ln w="12700">
            <a:solidFill>
              <a:srgbClr val="335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39712" y="1691640"/>
            <a:ext cx="1636776" cy="274320"/>
          </a:xfrm>
          <a:prstGeom prst="rect">
            <a:avLst/>
          </a:prstGeom>
          <a:noFill/>
        </p:spPr>
        <p:txBody>
          <a:bodyPr wrap="square">
            <a:spAutoFit/>
          </a:bodyPr>
          <a:lstStyle/>
          <a:p>
            <a:pPr algn="ctr">
              <a:defRPr sz="1300" b="1" i="0">
                <a:solidFill>
                  <a:srgbClr val="FFFFFF"/>
                </a:solidFill>
                <a:latin typeface="Segoe UI"/>
              </a:defRPr>
            </a:pPr>
            <a:r>
              <a:t>Azure Functions</a:t>
            </a:r>
          </a:p>
        </p:txBody>
      </p:sp>
      <p:sp>
        <p:nvSpPr>
          <p:cNvPr id="18" name="TextBox 17"/>
          <p:cNvSpPr txBox="1"/>
          <p:nvPr/>
        </p:nvSpPr>
        <p:spPr>
          <a:xfrm>
            <a:off x="6839712" y="2011680"/>
            <a:ext cx="1636776" cy="502920"/>
          </a:xfrm>
          <a:prstGeom prst="rect">
            <a:avLst/>
          </a:prstGeom>
          <a:noFill/>
        </p:spPr>
        <p:txBody>
          <a:bodyPr wrap="square">
            <a:spAutoFit/>
          </a:bodyPr>
          <a:lstStyle/>
          <a:p>
            <a:pPr algn="ctr">
              <a:defRPr sz="900" b="0" i="0">
                <a:solidFill>
                  <a:srgbClr val="AABBDD"/>
                </a:solidFill>
                <a:latin typeface="Segoe UI"/>
              </a:defRPr>
            </a:pPr>
            <a:r>
              <a:t>Serverless compute</a:t>
            </a:r>
            <a:br/>
            <a:r>
              <a:t>6 TypeScript functions</a:t>
            </a:r>
          </a:p>
        </p:txBody>
      </p:sp>
      <p:sp>
        <p:nvSpPr>
          <p:cNvPr id="19" name="TextBox 18"/>
          <p:cNvSpPr txBox="1"/>
          <p:nvPr/>
        </p:nvSpPr>
        <p:spPr>
          <a:xfrm>
            <a:off x="8549640" y="1943100"/>
            <a:ext cx="365760" cy="274320"/>
          </a:xfrm>
          <a:prstGeom prst="rect">
            <a:avLst/>
          </a:prstGeom>
          <a:noFill/>
        </p:spPr>
        <p:txBody>
          <a:bodyPr wrap="square">
            <a:spAutoFit/>
          </a:bodyPr>
          <a:lstStyle/>
          <a:p>
            <a:pPr algn="ctr">
              <a:defRPr sz="2200" b="0" i="0">
                <a:solidFill>
                  <a:srgbClr val="5577BB"/>
                </a:solidFill>
                <a:latin typeface="Segoe UI"/>
              </a:defRPr>
            </a:pPr>
            <a:r>
              <a:t>→</a:t>
            </a:r>
          </a:p>
        </p:txBody>
      </p:sp>
      <p:sp>
        <p:nvSpPr>
          <p:cNvPr id="20" name="Rounded Rectangle 19"/>
          <p:cNvSpPr/>
          <p:nvPr/>
        </p:nvSpPr>
        <p:spPr>
          <a:xfrm>
            <a:off x="8915400" y="1417320"/>
            <a:ext cx="2331720" cy="73152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88552" y="1508760"/>
            <a:ext cx="2185416" cy="256032"/>
          </a:xfrm>
          <a:prstGeom prst="rect">
            <a:avLst/>
          </a:prstGeom>
          <a:noFill/>
        </p:spPr>
        <p:txBody>
          <a:bodyPr wrap="square">
            <a:spAutoFit/>
          </a:bodyPr>
          <a:lstStyle/>
          <a:p>
            <a:pPr algn="ctr">
              <a:defRPr sz="1200" b="1" i="0">
                <a:solidFill>
                  <a:srgbClr val="FFFFFF"/>
                </a:solidFill>
                <a:latin typeface="Segoe UI"/>
              </a:defRPr>
            </a:pPr>
            <a:r>
              <a:t>Azure OpenAI</a:t>
            </a:r>
          </a:p>
        </p:txBody>
      </p:sp>
      <p:sp>
        <p:nvSpPr>
          <p:cNvPr id="22" name="TextBox 21"/>
          <p:cNvSpPr txBox="1"/>
          <p:nvPr/>
        </p:nvSpPr>
        <p:spPr>
          <a:xfrm>
            <a:off x="8988552" y="1783080"/>
            <a:ext cx="2185416" cy="320040"/>
          </a:xfrm>
          <a:prstGeom prst="rect">
            <a:avLst/>
          </a:prstGeom>
          <a:noFill/>
        </p:spPr>
        <p:txBody>
          <a:bodyPr wrap="square">
            <a:spAutoFit/>
          </a:bodyPr>
          <a:lstStyle/>
          <a:p>
            <a:pPr algn="ctr">
              <a:defRPr sz="900" b="0" i="0">
                <a:solidFill>
                  <a:srgbClr val="EEEEEE"/>
                </a:solidFill>
                <a:latin typeface="Segoe UI"/>
              </a:defRPr>
            </a:pPr>
            <a:r>
              <a:t>GPT-4o  ·  text-embedding-3-large</a:t>
            </a:r>
          </a:p>
        </p:txBody>
      </p:sp>
      <p:sp>
        <p:nvSpPr>
          <p:cNvPr id="23" name="Rounded Rectangle 22"/>
          <p:cNvSpPr/>
          <p:nvPr/>
        </p:nvSpPr>
        <p:spPr>
          <a:xfrm>
            <a:off x="8915400" y="2240280"/>
            <a:ext cx="2331720" cy="7315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2331720"/>
            <a:ext cx="2185416" cy="256032"/>
          </a:xfrm>
          <a:prstGeom prst="rect">
            <a:avLst/>
          </a:prstGeom>
          <a:noFill/>
        </p:spPr>
        <p:txBody>
          <a:bodyPr wrap="square">
            <a:spAutoFit/>
          </a:bodyPr>
          <a:lstStyle/>
          <a:p>
            <a:pPr algn="ctr">
              <a:defRPr sz="1200" b="1" i="0">
                <a:solidFill>
                  <a:srgbClr val="FFFFFF"/>
                </a:solidFill>
                <a:latin typeface="Segoe UI"/>
              </a:defRPr>
            </a:pPr>
            <a:r>
              <a:t>AI Search</a:t>
            </a:r>
          </a:p>
        </p:txBody>
      </p:sp>
      <p:sp>
        <p:nvSpPr>
          <p:cNvPr id="25" name="TextBox 24"/>
          <p:cNvSpPr txBox="1"/>
          <p:nvPr/>
        </p:nvSpPr>
        <p:spPr>
          <a:xfrm>
            <a:off x="8988552" y="2606040"/>
            <a:ext cx="2185416" cy="320040"/>
          </a:xfrm>
          <a:prstGeom prst="rect">
            <a:avLst/>
          </a:prstGeom>
          <a:noFill/>
        </p:spPr>
        <p:txBody>
          <a:bodyPr wrap="square">
            <a:spAutoFit/>
          </a:bodyPr>
          <a:lstStyle/>
          <a:p>
            <a:pPr algn="ctr">
              <a:defRPr sz="900" b="0" i="0">
                <a:solidFill>
                  <a:srgbClr val="EEEEEE"/>
                </a:solidFill>
                <a:latin typeface="Segoe UI"/>
              </a:defRPr>
            </a:pPr>
            <a:r>
              <a:t>Hybrid vector + keyword  ·  semantic ranker</a:t>
            </a:r>
          </a:p>
        </p:txBody>
      </p:sp>
      <p:sp>
        <p:nvSpPr>
          <p:cNvPr id="26" name="Rounded Rectangle 25"/>
          <p:cNvSpPr/>
          <p:nvPr/>
        </p:nvSpPr>
        <p:spPr>
          <a:xfrm>
            <a:off x="8915400" y="3063240"/>
            <a:ext cx="2331720" cy="731520"/>
          </a:xfrm>
          <a:prstGeom prst="roundRect">
            <a:avLst>
              <a:gd name="adj" fmla="val 5000"/>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88552" y="3154680"/>
            <a:ext cx="2185416" cy="256032"/>
          </a:xfrm>
          <a:prstGeom prst="rect">
            <a:avLst/>
          </a:prstGeom>
          <a:noFill/>
        </p:spPr>
        <p:txBody>
          <a:bodyPr wrap="square">
            <a:spAutoFit/>
          </a:bodyPr>
          <a:lstStyle/>
          <a:p>
            <a:pPr algn="ctr">
              <a:defRPr sz="1200" b="1" i="0">
                <a:solidFill>
                  <a:srgbClr val="FFFFFF"/>
                </a:solidFill>
                <a:latin typeface="Segoe UI"/>
              </a:defRPr>
            </a:pPr>
            <a:r>
              <a:t>Cosmos DB</a:t>
            </a:r>
          </a:p>
        </p:txBody>
      </p:sp>
      <p:sp>
        <p:nvSpPr>
          <p:cNvPr id="28" name="TextBox 27"/>
          <p:cNvSpPr txBox="1"/>
          <p:nvPr/>
        </p:nvSpPr>
        <p:spPr>
          <a:xfrm>
            <a:off x="8988552" y="3429000"/>
            <a:ext cx="2185416" cy="320040"/>
          </a:xfrm>
          <a:prstGeom prst="rect">
            <a:avLst/>
          </a:prstGeom>
          <a:noFill/>
        </p:spPr>
        <p:txBody>
          <a:bodyPr wrap="square">
            <a:spAutoFit/>
          </a:bodyPr>
          <a:lstStyle/>
          <a:p>
            <a:pPr algn="ctr">
              <a:defRPr sz="900" b="0" i="0">
                <a:solidFill>
                  <a:srgbClr val="EEEEEE"/>
                </a:solidFill>
                <a:latin typeface="Segoe UI"/>
              </a:defRPr>
            </a:pPr>
            <a:r>
              <a:t>Serverless  ·  metadata + full text</a:t>
            </a:r>
          </a:p>
        </p:txBody>
      </p:sp>
      <p:sp>
        <p:nvSpPr>
          <p:cNvPr id="29" name="TextBox 28"/>
          <p:cNvSpPr txBox="1"/>
          <p:nvPr/>
        </p:nvSpPr>
        <p:spPr>
          <a:xfrm>
            <a:off x="548640" y="3611880"/>
            <a:ext cx="10972800" cy="274320"/>
          </a:xfrm>
          <a:prstGeom prst="rect">
            <a:avLst/>
          </a:prstGeom>
          <a:noFill/>
        </p:spPr>
        <p:txBody>
          <a:bodyPr wrap="square">
            <a:spAutoFit/>
          </a:bodyPr>
          <a:lstStyle/>
          <a:p>
            <a:pPr algn="ctr">
              <a:defRPr sz="1000" b="1" i="0">
                <a:solidFill>
                  <a:srgbClr val="7788AA"/>
                </a:solidFill>
                <a:latin typeface="Segoe UI"/>
              </a:defRPr>
            </a:pPr>
            <a:r>
              <a:t>SUPPORTING SERVICES</a:t>
            </a:r>
          </a:p>
        </p:txBody>
      </p:sp>
      <p:sp>
        <p:nvSpPr>
          <p:cNvPr id="30" name="Rounded Rectangle 29"/>
          <p:cNvSpPr/>
          <p:nvPr/>
        </p:nvSpPr>
        <p:spPr>
          <a:xfrm>
            <a:off x="787755" y="3931920"/>
            <a:ext cx="2468880" cy="822960"/>
          </a:xfrm>
          <a:prstGeom prst="roundRect">
            <a:avLst>
              <a:gd name="adj" fmla="val 5000"/>
            </a:avLst>
          </a:prstGeom>
          <a:solidFill>
            <a:srgbClr val="122D55"/>
          </a:solidFill>
          <a:ln w="12700">
            <a:solidFill>
              <a:srgbClr val="2A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0907" y="4023360"/>
            <a:ext cx="2322576" cy="228600"/>
          </a:xfrm>
          <a:prstGeom prst="rect">
            <a:avLst/>
          </a:prstGeom>
          <a:noFill/>
        </p:spPr>
        <p:txBody>
          <a:bodyPr wrap="square">
            <a:spAutoFit/>
          </a:bodyPr>
          <a:lstStyle/>
          <a:p>
            <a:pPr algn="ctr">
              <a:defRPr sz="1100" b="1" i="0">
                <a:solidFill>
                  <a:srgbClr val="FFFFFF"/>
                </a:solidFill>
                <a:latin typeface="Segoe UI"/>
              </a:defRPr>
            </a:pPr>
            <a:r>
              <a:t>Key Vault</a:t>
            </a:r>
          </a:p>
        </p:txBody>
      </p:sp>
      <p:sp>
        <p:nvSpPr>
          <p:cNvPr id="32" name="TextBox 31"/>
          <p:cNvSpPr txBox="1"/>
          <p:nvPr/>
        </p:nvSpPr>
        <p:spPr>
          <a:xfrm>
            <a:off x="860907" y="4279392"/>
            <a:ext cx="2322576" cy="411480"/>
          </a:xfrm>
          <a:prstGeom prst="rect">
            <a:avLst/>
          </a:prstGeom>
          <a:noFill/>
        </p:spPr>
        <p:txBody>
          <a:bodyPr wrap="square">
            <a:spAutoFit/>
          </a:bodyPr>
          <a:lstStyle/>
          <a:p>
            <a:pPr algn="ctr">
              <a:defRPr sz="900" b="0" i="0">
                <a:solidFill>
                  <a:srgbClr val="99AACC"/>
                </a:solidFill>
                <a:latin typeface="Segoe UI"/>
              </a:defRPr>
            </a:pPr>
            <a:r>
              <a:t>Function host key</a:t>
            </a:r>
            <a:br/>
            <a:r>
              <a:t>for APIM only</a:t>
            </a:r>
          </a:p>
        </p:txBody>
      </p:sp>
      <p:sp>
        <p:nvSpPr>
          <p:cNvPr id="33" name="Rounded Rectangle 32"/>
          <p:cNvSpPr/>
          <p:nvPr/>
        </p:nvSpPr>
        <p:spPr>
          <a:xfrm>
            <a:off x="3503523" y="3931920"/>
            <a:ext cx="2468880" cy="822960"/>
          </a:xfrm>
          <a:prstGeom prst="roundRect">
            <a:avLst>
              <a:gd name="adj" fmla="val 5000"/>
            </a:avLst>
          </a:prstGeom>
          <a:solidFill>
            <a:srgbClr val="122D55"/>
          </a:solidFill>
          <a:ln w="12700">
            <a:solidFill>
              <a:srgbClr val="2A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76675" y="4023360"/>
            <a:ext cx="2322576" cy="228600"/>
          </a:xfrm>
          <a:prstGeom prst="rect">
            <a:avLst/>
          </a:prstGeom>
          <a:noFill/>
        </p:spPr>
        <p:txBody>
          <a:bodyPr wrap="square">
            <a:spAutoFit/>
          </a:bodyPr>
          <a:lstStyle/>
          <a:p>
            <a:pPr algn="ctr">
              <a:defRPr sz="1100" b="1" i="0">
                <a:solidFill>
                  <a:srgbClr val="FFFFFF"/>
                </a:solidFill>
                <a:latin typeface="Segoe UI"/>
              </a:defRPr>
            </a:pPr>
            <a:r>
              <a:t>Blob Storage</a:t>
            </a:r>
          </a:p>
        </p:txBody>
      </p:sp>
      <p:sp>
        <p:nvSpPr>
          <p:cNvPr id="35" name="TextBox 34"/>
          <p:cNvSpPr txBox="1"/>
          <p:nvPr/>
        </p:nvSpPr>
        <p:spPr>
          <a:xfrm>
            <a:off x="3576675" y="4279392"/>
            <a:ext cx="2322576" cy="411480"/>
          </a:xfrm>
          <a:prstGeom prst="rect">
            <a:avLst/>
          </a:prstGeom>
          <a:noFill/>
        </p:spPr>
        <p:txBody>
          <a:bodyPr wrap="square">
            <a:spAutoFit/>
          </a:bodyPr>
          <a:lstStyle/>
          <a:p>
            <a:pPr algn="ctr">
              <a:defRPr sz="900" b="0" i="0">
                <a:solidFill>
                  <a:srgbClr val="99AACC"/>
                </a:solidFill>
                <a:latin typeface="Segoe UI"/>
              </a:defRPr>
            </a:pPr>
            <a:r>
              <a:t>Remarks uploads</a:t>
            </a:r>
            <a:br/>
            <a:r>
              <a:t>trigger ingestion</a:t>
            </a:r>
          </a:p>
        </p:txBody>
      </p:sp>
      <p:sp>
        <p:nvSpPr>
          <p:cNvPr id="36" name="Rounded Rectangle 35"/>
          <p:cNvSpPr/>
          <p:nvPr/>
        </p:nvSpPr>
        <p:spPr>
          <a:xfrm>
            <a:off x="6219291" y="3931920"/>
            <a:ext cx="2468880" cy="822960"/>
          </a:xfrm>
          <a:prstGeom prst="roundRect">
            <a:avLst>
              <a:gd name="adj" fmla="val 5000"/>
            </a:avLst>
          </a:prstGeom>
          <a:solidFill>
            <a:srgbClr val="122D55"/>
          </a:solidFill>
          <a:ln w="12700">
            <a:solidFill>
              <a:srgbClr val="2A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92443" y="4023360"/>
            <a:ext cx="2322576" cy="228600"/>
          </a:xfrm>
          <a:prstGeom prst="rect">
            <a:avLst/>
          </a:prstGeom>
          <a:noFill/>
        </p:spPr>
        <p:txBody>
          <a:bodyPr wrap="square">
            <a:spAutoFit/>
          </a:bodyPr>
          <a:lstStyle/>
          <a:p>
            <a:pPr algn="ctr">
              <a:defRPr sz="1100" b="1" i="0">
                <a:solidFill>
                  <a:srgbClr val="FFFFFF"/>
                </a:solidFill>
                <a:latin typeface="Segoe UI"/>
              </a:defRPr>
            </a:pPr>
            <a:r>
              <a:t>VNet + Private Endpoints</a:t>
            </a:r>
          </a:p>
        </p:txBody>
      </p:sp>
      <p:sp>
        <p:nvSpPr>
          <p:cNvPr id="38" name="TextBox 37"/>
          <p:cNvSpPr txBox="1"/>
          <p:nvPr/>
        </p:nvSpPr>
        <p:spPr>
          <a:xfrm>
            <a:off x="6292443" y="4279392"/>
            <a:ext cx="2322576" cy="411480"/>
          </a:xfrm>
          <a:prstGeom prst="rect">
            <a:avLst/>
          </a:prstGeom>
          <a:noFill/>
        </p:spPr>
        <p:txBody>
          <a:bodyPr wrap="square">
            <a:spAutoFit/>
          </a:bodyPr>
          <a:lstStyle/>
          <a:p>
            <a:pPr algn="ctr">
              <a:defRPr sz="900" b="0" i="0">
                <a:solidFill>
                  <a:srgbClr val="99AACC"/>
                </a:solidFill>
                <a:latin typeface="Segoe UI"/>
              </a:defRPr>
            </a:pPr>
            <a:r>
              <a:t>Network isolation</a:t>
            </a:r>
            <a:br/>
            <a:r>
              <a:t>Cosmos + Blob</a:t>
            </a:r>
          </a:p>
        </p:txBody>
      </p:sp>
      <p:sp>
        <p:nvSpPr>
          <p:cNvPr id="39" name="Rounded Rectangle 38"/>
          <p:cNvSpPr/>
          <p:nvPr/>
        </p:nvSpPr>
        <p:spPr>
          <a:xfrm>
            <a:off x="8935059" y="3931920"/>
            <a:ext cx="2468880" cy="822960"/>
          </a:xfrm>
          <a:prstGeom prst="roundRect">
            <a:avLst>
              <a:gd name="adj" fmla="val 5000"/>
            </a:avLst>
          </a:prstGeom>
          <a:solidFill>
            <a:srgbClr val="122D55"/>
          </a:solidFill>
          <a:ln w="12700">
            <a:solidFill>
              <a:srgbClr val="2A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08211" y="4023360"/>
            <a:ext cx="2322576" cy="228600"/>
          </a:xfrm>
          <a:prstGeom prst="rect">
            <a:avLst/>
          </a:prstGeom>
          <a:noFill/>
        </p:spPr>
        <p:txBody>
          <a:bodyPr wrap="square">
            <a:spAutoFit/>
          </a:bodyPr>
          <a:lstStyle/>
          <a:p>
            <a:pPr algn="ctr">
              <a:defRPr sz="1100" b="1" i="0">
                <a:solidFill>
                  <a:srgbClr val="FFFFFF"/>
                </a:solidFill>
                <a:latin typeface="Segoe UI"/>
              </a:defRPr>
            </a:pPr>
            <a:r>
              <a:t>Managed Identity</a:t>
            </a:r>
          </a:p>
        </p:txBody>
      </p:sp>
      <p:sp>
        <p:nvSpPr>
          <p:cNvPr id="41" name="TextBox 40"/>
          <p:cNvSpPr txBox="1"/>
          <p:nvPr/>
        </p:nvSpPr>
        <p:spPr>
          <a:xfrm>
            <a:off x="9008211" y="4279392"/>
            <a:ext cx="2322576" cy="411480"/>
          </a:xfrm>
          <a:prstGeom prst="rect">
            <a:avLst/>
          </a:prstGeom>
          <a:noFill/>
        </p:spPr>
        <p:txBody>
          <a:bodyPr wrap="square">
            <a:spAutoFit/>
          </a:bodyPr>
          <a:lstStyle/>
          <a:p>
            <a:pPr algn="ctr">
              <a:defRPr sz="900" b="0" i="0">
                <a:solidFill>
                  <a:srgbClr val="99AACC"/>
                </a:solidFill>
                <a:latin typeface="Segoe UI"/>
              </a:defRPr>
            </a:pPr>
            <a:r>
              <a:t>DefaultAzureCredential</a:t>
            </a:r>
            <a:br/>
            <a:r>
              <a:t>zero secrets in code</a:t>
            </a:r>
          </a:p>
        </p:txBody>
      </p:sp>
      <p:sp>
        <p:nvSpPr>
          <p:cNvPr id="42" name="Rounded Rectangle 41"/>
          <p:cNvSpPr/>
          <p:nvPr/>
        </p:nvSpPr>
        <p:spPr>
          <a:xfrm>
            <a:off x="2560320" y="5120640"/>
            <a:ext cx="7040880" cy="548640"/>
          </a:xfrm>
          <a:prstGeom prst="roundRect">
            <a:avLst>
              <a:gd name="adj" fmla="val 5000"/>
            </a:avLst>
          </a:prstGeom>
          <a:solidFill>
            <a:srgbClr val="0D2244"/>
          </a:solidFill>
          <a:ln w="1270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43200" y="5193792"/>
            <a:ext cx="6675120" cy="365760"/>
          </a:xfrm>
          <a:prstGeom prst="rect">
            <a:avLst/>
          </a:prstGeom>
          <a:noFill/>
        </p:spPr>
        <p:txBody>
          <a:bodyPr wrap="square">
            <a:spAutoFit/>
          </a:bodyPr>
          <a:lstStyle/>
          <a:p>
            <a:pPr algn="ctr">
              <a:defRPr sz="1300" b="0" i="0">
                <a:solidFill>
                  <a:srgbClr val="BBCCFF"/>
                </a:solidFill>
                <a:latin typeface="Segoe UI"/>
              </a:defRPr>
            </a:pPr>
            <a:r>
              <a:t>~$120–195/mo total  ·  Serverless — scales to zero  ·  100% consumption tier</a:t>
            </a:r>
          </a:p>
        </p:txBody>
      </p:sp>
      <p:sp>
        <p:nvSpPr>
          <p:cNvPr id="44" name="TextBox 43"/>
          <p:cNvSpPr txBox="1"/>
          <p:nvPr/>
        </p:nvSpPr>
        <p:spPr>
          <a:xfrm>
            <a:off x="548640" y="6446520"/>
            <a:ext cx="4572000" cy="274320"/>
          </a:xfrm>
          <a:prstGeom prst="rect">
            <a:avLst/>
          </a:prstGeom>
          <a:noFill/>
        </p:spPr>
        <p:txBody>
          <a:bodyPr wrap="square">
            <a:spAutoFit/>
          </a:bodyPr>
          <a:lstStyle/>
          <a:p>
            <a:pPr algn="l">
              <a:defRPr sz="900" b="0" i="0">
                <a:solidFill>
                  <a:srgbClr val="667799"/>
                </a:solidFill>
                <a:latin typeface="Segoe UI"/>
              </a:defRPr>
            </a:pPr>
            <a:r>
              <a:t>NC DIT AI Office</a:t>
            </a:r>
          </a:p>
        </p:txBody>
      </p:sp>
      <p:sp>
        <p:nvSpPr>
          <p:cNvPr id="45" name="TextBox 44"/>
          <p:cNvSpPr txBox="1"/>
          <p:nvPr/>
        </p:nvSpPr>
        <p:spPr>
          <a:xfrm>
            <a:off x="6858000" y="6446520"/>
            <a:ext cx="4572000" cy="274320"/>
          </a:xfrm>
          <a:prstGeom prst="rect">
            <a:avLst/>
          </a:prstGeom>
          <a:noFill/>
        </p:spPr>
        <p:txBody>
          <a:bodyPr wrap="square">
            <a:spAutoFit/>
          </a:bodyPr>
          <a:lstStyle/>
          <a:p>
            <a:pPr algn="r">
              <a:defRPr sz="900" b="0" i="0">
                <a:solidFill>
                  <a:srgbClr val="667799"/>
                </a:solidFill>
                <a:latin typeface="Segoe UI"/>
              </a:defRPr>
            </a:pPr>
            <a:r>
              <a:t>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502920"/>
          </a:xfrm>
          <a:prstGeom prst="rect">
            <a:avLst/>
          </a:prstGeom>
          <a:noFill/>
        </p:spPr>
        <p:txBody>
          <a:bodyPr wrap="square">
            <a:spAutoFit/>
          </a:bodyPr>
          <a:lstStyle/>
          <a:p>
            <a:pPr algn="l">
              <a:defRPr sz="3400" b="1" i="0">
                <a:solidFill>
                  <a:srgbClr val="0A2463"/>
                </a:solidFill>
                <a:latin typeface="Segoe UI"/>
              </a:defRPr>
            </a:pPr>
            <a:r>
              <a:t>Request Flow</a:t>
            </a:r>
          </a:p>
        </p:txBody>
      </p:sp>
      <p:sp>
        <p:nvSpPr>
          <p:cNvPr id="3" name="TextBox 2"/>
          <p:cNvSpPr txBox="1"/>
          <p:nvPr/>
        </p:nvSpPr>
        <p:spPr>
          <a:xfrm>
            <a:off x="548640" y="731520"/>
            <a:ext cx="10972800" cy="274320"/>
          </a:xfrm>
          <a:prstGeom prst="rect">
            <a:avLst/>
          </a:prstGeom>
          <a:noFill/>
        </p:spPr>
        <p:txBody>
          <a:bodyPr wrap="square">
            <a:spAutoFit/>
          </a:bodyPr>
          <a:lstStyle/>
          <a:p>
            <a:pPr algn="l">
              <a:defRPr sz="1400" b="0" i="0">
                <a:solidFill>
                  <a:srgbClr val="888888"/>
                </a:solidFill>
                <a:latin typeface="Segoe UI"/>
              </a:defRPr>
            </a:pPr>
            <a:r>
              <a:t>What happens when a user sends a message</a:t>
            </a:r>
          </a:p>
        </p:txBody>
      </p:sp>
      <p:sp>
        <p:nvSpPr>
          <p:cNvPr id="4" name="Rectangle 3"/>
          <p:cNvSpPr/>
          <p:nvPr/>
        </p:nvSpPr>
        <p:spPr>
          <a:xfrm>
            <a:off x="365760" y="1280160"/>
            <a:ext cx="64008"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554480"/>
            <a:ext cx="777240" cy="548640"/>
          </a:xfrm>
          <a:prstGeom prst="rect">
            <a:avLst/>
          </a:prstGeom>
          <a:noFill/>
        </p:spPr>
        <p:txBody>
          <a:bodyPr wrap="square">
            <a:spAutoFit/>
          </a:bodyPr>
          <a:lstStyle/>
          <a:p>
            <a:pPr algn="ctr">
              <a:defRPr sz="1200" b="1" i="0">
                <a:solidFill>
                  <a:srgbClr val="0078D4"/>
                </a:solidFill>
                <a:latin typeface="Segoe UI"/>
              </a:defRPr>
            </a:pPr>
            <a:r>
              <a:t>News</a:t>
            </a:r>
            <a:br/>
            <a:r>
              <a:t>Clips</a:t>
            </a:r>
          </a:p>
        </p:txBody>
      </p:sp>
      <p:sp>
        <p:nvSpPr>
          <p:cNvPr id="6" name="Rounded Rectangle 5"/>
          <p:cNvSpPr/>
          <p:nvPr/>
        </p:nvSpPr>
        <p:spPr>
          <a:xfrm>
            <a:off x="1280160" y="1280160"/>
            <a:ext cx="2148840" cy="109728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53312" y="1353312"/>
            <a:ext cx="237744" cy="23774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1</a:t>
            </a:r>
          </a:p>
        </p:txBody>
      </p:sp>
      <p:sp>
        <p:nvSpPr>
          <p:cNvPr id="8" name="TextBox 7"/>
          <p:cNvSpPr txBox="1"/>
          <p:nvPr/>
        </p:nvSpPr>
        <p:spPr>
          <a:xfrm>
            <a:off x="1645920" y="1353312"/>
            <a:ext cx="1691640" cy="365760"/>
          </a:xfrm>
          <a:prstGeom prst="rect">
            <a:avLst/>
          </a:prstGeom>
          <a:noFill/>
        </p:spPr>
        <p:txBody>
          <a:bodyPr wrap="square">
            <a:spAutoFit/>
          </a:bodyPr>
          <a:lstStyle/>
          <a:p>
            <a:pPr algn="l">
              <a:defRPr sz="1100" b="1" i="0">
                <a:solidFill>
                  <a:srgbClr val="1A1A1A"/>
                </a:solidFill>
                <a:latin typeface="Segoe UI"/>
              </a:defRPr>
            </a:pPr>
            <a:r>
              <a:t>User asks in Teams</a:t>
            </a:r>
          </a:p>
        </p:txBody>
      </p:sp>
      <p:sp>
        <p:nvSpPr>
          <p:cNvPr id="9" name="TextBox 8"/>
          <p:cNvSpPr txBox="1"/>
          <p:nvPr/>
        </p:nvSpPr>
        <p:spPr>
          <a:xfrm>
            <a:off x="1645920" y="1737360"/>
            <a:ext cx="1691640" cy="548640"/>
          </a:xfrm>
          <a:prstGeom prst="rect">
            <a:avLst/>
          </a:prstGeom>
          <a:noFill/>
        </p:spPr>
        <p:txBody>
          <a:bodyPr wrap="square">
            <a:spAutoFit/>
          </a:bodyPr>
          <a:lstStyle/>
          <a:p>
            <a:pPr algn="l">
              <a:defRPr sz="900" b="0" i="0">
                <a:solidFill>
                  <a:srgbClr val="555555"/>
                </a:solidFill>
                <a:latin typeface="Segoe UI"/>
              </a:defRPr>
            </a:pPr>
            <a:r>
              <a:t>"What clips came in</a:t>
            </a:r>
            <a:br/>
            <a:r>
              <a:t>about broadband?"</a:t>
            </a:r>
          </a:p>
        </p:txBody>
      </p:sp>
      <p:sp>
        <p:nvSpPr>
          <p:cNvPr id="10" name="TextBox 9"/>
          <p:cNvSpPr txBox="1"/>
          <p:nvPr/>
        </p:nvSpPr>
        <p:spPr>
          <a:xfrm>
            <a:off x="3429000" y="1719072"/>
            <a:ext cx="274320" cy="228600"/>
          </a:xfrm>
          <a:prstGeom prst="rect">
            <a:avLst/>
          </a:prstGeom>
          <a:noFill/>
        </p:spPr>
        <p:txBody>
          <a:bodyPr wrap="square">
            <a:spAutoFit/>
          </a:bodyPr>
          <a:lstStyle/>
          <a:p>
            <a:pPr algn="ctr">
              <a:defRPr sz="1800" b="0" i="0">
                <a:solidFill>
                  <a:srgbClr val="BBBBBB"/>
                </a:solidFill>
                <a:latin typeface="Segoe UI"/>
              </a:defRPr>
            </a:pPr>
            <a:r>
              <a:t>→</a:t>
            </a:r>
          </a:p>
        </p:txBody>
      </p:sp>
      <p:sp>
        <p:nvSpPr>
          <p:cNvPr id="11" name="Rounded Rectangle 10"/>
          <p:cNvSpPr/>
          <p:nvPr/>
        </p:nvSpPr>
        <p:spPr>
          <a:xfrm>
            <a:off x="3703320" y="1280160"/>
            <a:ext cx="2148840" cy="109728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776472" y="1353312"/>
            <a:ext cx="237744" cy="23774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2</a:t>
            </a:r>
          </a:p>
        </p:txBody>
      </p:sp>
      <p:sp>
        <p:nvSpPr>
          <p:cNvPr id="13" name="TextBox 12"/>
          <p:cNvSpPr txBox="1"/>
          <p:nvPr/>
        </p:nvSpPr>
        <p:spPr>
          <a:xfrm>
            <a:off x="4069080" y="1353312"/>
            <a:ext cx="1691640" cy="365760"/>
          </a:xfrm>
          <a:prstGeom prst="rect">
            <a:avLst/>
          </a:prstGeom>
          <a:noFill/>
        </p:spPr>
        <p:txBody>
          <a:bodyPr wrap="square">
            <a:spAutoFit/>
          </a:bodyPr>
          <a:lstStyle/>
          <a:p>
            <a:pPr algn="l">
              <a:defRPr sz="1100" b="1" i="0">
                <a:solidFill>
                  <a:srgbClr val="1A1A1A"/>
                </a:solidFill>
                <a:latin typeface="Segoe UI"/>
              </a:defRPr>
            </a:pPr>
            <a:r>
              <a:t>APIM routes request</a:t>
            </a:r>
          </a:p>
        </p:txBody>
      </p:sp>
      <p:sp>
        <p:nvSpPr>
          <p:cNvPr id="14" name="TextBox 13"/>
          <p:cNvSpPr txBox="1"/>
          <p:nvPr/>
        </p:nvSpPr>
        <p:spPr>
          <a:xfrm>
            <a:off x="4069080" y="1737360"/>
            <a:ext cx="1691640" cy="548640"/>
          </a:xfrm>
          <a:prstGeom prst="rect">
            <a:avLst/>
          </a:prstGeom>
          <a:noFill/>
        </p:spPr>
        <p:txBody>
          <a:bodyPr wrap="square">
            <a:spAutoFit/>
          </a:bodyPr>
          <a:lstStyle/>
          <a:p>
            <a:pPr algn="l">
              <a:defRPr sz="900" b="0" i="0">
                <a:solidFill>
                  <a:srgbClr val="555555"/>
                </a:solidFill>
                <a:latin typeface="Segoe UI"/>
              </a:defRPr>
            </a:pPr>
            <a:r>
              <a:t>Subscription key auth</a:t>
            </a:r>
            <a:br/>
            <a:r>
              <a:t>→ clips-query function</a:t>
            </a:r>
          </a:p>
        </p:txBody>
      </p:sp>
      <p:sp>
        <p:nvSpPr>
          <p:cNvPr id="15" name="TextBox 14"/>
          <p:cNvSpPr txBox="1"/>
          <p:nvPr/>
        </p:nvSpPr>
        <p:spPr>
          <a:xfrm>
            <a:off x="5852160" y="1719072"/>
            <a:ext cx="274320" cy="228600"/>
          </a:xfrm>
          <a:prstGeom prst="rect">
            <a:avLst/>
          </a:prstGeom>
          <a:noFill/>
        </p:spPr>
        <p:txBody>
          <a:bodyPr wrap="square">
            <a:spAutoFit/>
          </a:bodyPr>
          <a:lstStyle/>
          <a:p>
            <a:pPr algn="ctr">
              <a:defRPr sz="1800" b="0" i="0">
                <a:solidFill>
                  <a:srgbClr val="BBBBBB"/>
                </a:solidFill>
                <a:latin typeface="Segoe UI"/>
              </a:defRPr>
            </a:pPr>
            <a:r>
              <a:t>→</a:t>
            </a:r>
          </a:p>
        </p:txBody>
      </p:sp>
      <p:sp>
        <p:nvSpPr>
          <p:cNvPr id="16" name="Rounded Rectangle 15"/>
          <p:cNvSpPr/>
          <p:nvPr/>
        </p:nvSpPr>
        <p:spPr>
          <a:xfrm>
            <a:off x="6126480" y="1280160"/>
            <a:ext cx="2148840" cy="109728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199632" y="1353312"/>
            <a:ext cx="237744" cy="23774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3</a:t>
            </a:r>
          </a:p>
        </p:txBody>
      </p:sp>
      <p:sp>
        <p:nvSpPr>
          <p:cNvPr id="18" name="TextBox 17"/>
          <p:cNvSpPr txBox="1"/>
          <p:nvPr/>
        </p:nvSpPr>
        <p:spPr>
          <a:xfrm>
            <a:off x="6492240" y="1353312"/>
            <a:ext cx="1691640" cy="365760"/>
          </a:xfrm>
          <a:prstGeom prst="rect">
            <a:avLst/>
          </a:prstGeom>
          <a:noFill/>
        </p:spPr>
        <p:txBody>
          <a:bodyPr wrap="square">
            <a:spAutoFit/>
          </a:bodyPr>
          <a:lstStyle/>
          <a:p>
            <a:pPr algn="l">
              <a:defRPr sz="1100" b="1" i="0">
                <a:solidFill>
                  <a:srgbClr val="1A1A1A"/>
                </a:solidFill>
                <a:latin typeface="Segoe UI"/>
              </a:defRPr>
            </a:pPr>
            <a:r>
              <a:t>AI Search</a:t>
            </a:r>
          </a:p>
        </p:txBody>
      </p:sp>
      <p:sp>
        <p:nvSpPr>
          <p:cNvPr id="19" name="TextBox 18"/>
          <p:cNvSpPr txBox="1"/>
          <p:nvPr/>
        </p:nvSpPr>
        <p:spPr>
          <a:xfrm>
            <a:off x="6492240" y="1737360"/>
            <a:ext cx="1691640" cy="548640"/>
          </a:xfrm>
          <a:prstGeom prst="rect">
            <a:avLst/>
          </a:prstGeom>
          <a:noFill/>
        </p:spPr>
        <p:txBody>
          <a:bodyPr wrap="square">
            <a:spAutoFit/>
          </a:bodyPr>
          <a:lstStyle/>
          <a:p>
            <a:pPr algn="l">
              <a:defRPr sz="900" b="0" i="0">
                <a:solidFill>
                  <a:srgbClr val="555555"/>
                </a:solidFill>
                <a:latin typeface="Segoe UI"/>
              </a:defRPr>
            </a:pPr>
            <a:r>
              <a:t>Hybrid vector + keyword</a:t>
            </a:r>
            <a:br/>
            <a:r>
              <a:t>semantic reranker</a:t>
            </a:r>
          </a:p>
        </p:txBody>
      </p:sp>
      <p:sp>
        <p:nvSpPr>
          <p:cNvPr id="20" name="TextBox 19"/>
          <p:cNvSpPr txBox="1"/>
          <p:nvPr/>
        </p:nvSpPr>
        <p:spPr>
          <a:xfrm>
            <a:off x="8275320" y="1719072"/>
            <a:ext cx="274320" cy="228600"/>
          </a:xfrm>
          <a:prstGeom prst="rect">
            <a:avLst/>
          </a:prstGeom>
          <a:noFill/>
        </p:spPr>
        <p:txBody>
          <a:bodyPr wrap="square">
            <a:spAutoFit/>
          </a:bodyPr>
          <a:lstStyle/>
          <a:p>
            <a:pPr algn="ctr">
              <a:defRPr sz="1800" b="0" i="0">
                <a:solidFill>
                  <a:srgbClr val="BBBBBB"/>
                </a:solidFill>
                <a:latin typeface="Segoe UI"/>
              </a:defRPr>
            </a:pPr>
            <a:r>
              <a:t>→</a:t>
            </a:r>
          </a:p>
        </p:txBody>
      </p:sp>
      <p:sp>
        <p:nvSpPr>
          <p:cNvPr id="21" name="Rounded Rectangle 20"/>
          <p:cNvSpPr/>
          <p:nvPr/>
        </p:nvSpPr>
        <p:spPr>
          <a:xfrm>
            <a:off x="8549640" y="1280160"/>
            <a:ext cx="2148840" cy="109728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22792" y="1353312"/>
            <a:ext cx="237744" cy="23774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4</a:t>
            </a:r>
          </a:p>
        </p:txBody>
      </p:sp>
      <p:sp>
        <p:nvSpPr>
          <p:cNvPr id="23" name="TextBox 22"/>
          <p:cNvSpPr txBox="1"/>
          <p:nvPr/>
        </p:nvSpPr>
        <p:spPr>
          <a:xfrm>
            <a:off x="8915400" y="1353312"/>
            <a:ext cx="1691640" cy="365760"/>
          </a:xfrm>
          <a:prstGeom prst="rect">
            <a:avLst/>
          </a:prstGeom>
          <a:noFill/>
        </p:spPr>
        <p:txBody>
          <a:bodyPr wrap="square">
            <a:spAutoFit/>
          </a:bodyPr>
          <a:lstStyle/>
          <a:p>
            <a:pPr algn="l">
              <a:defRPr sz="1100" b="1" i="0">
                <a:solidFill>
                  <a:srgbClr val="1A1A1A"/>
                </a:solidFill>
                <a:latin typeface="Segoe UI"/>
              </a:defRPr>
            </a:pPr>
            <a:r>
              <a:t>Return matching clips</a:t>
            </a:r>
          </a:p>
        </p:txBody>
      </p:sp>
      <p:sp>
        <p:nvSpPr>
          <p:cNvPr id="24" name="TextBox 23"/>
          <p:cNvSpPr txBox="1"/>
          <p:nvPr/>
        </p:nvSpPr>
        <p:spPr>
          <a:xfrm>
            <a:off x="8915400" y="1737360"/>
            <a:ext cx="1691640" cy="548640"/>
          </a:xfrm>
          <a:prstGeom prst="rect">
            <a:avLst/>
          </a:prstGeom>
          <a:noFill/>
        </p:spPr>
        <p:txBody>
          <a:bodyPr wrap="square">
            <a:spAutoFit/>
          </a:bodyPr>
          <a:lstStyle/>
          <a:p>
            <a:pPr algn="l">
              <a:defRPr sz="900" b="0" i="0">
                <a:solidFill>
                  <a:srgbClr val="555555"/>
                </a:solidFill>
                <a:latin typeface="Segoe UI"/>
              </a:defRPr>
            </a:pPr>
            <a:r>
              <a:t>Title, date, outlet,</a:t>
            </a:r>
            <a:br/>
            <a:r>
              <a:t>Governor mention</a:t>
            </a:r>
          </a:p>
        </p:txBody>
      </p:sp>
      <p:sp>
        <p:nvSpPr>
          <p:cNvPr id="25" name="Rectangle 24"/>
          <p:cNvSpPr/>
          <p:nvPr/>
        </p:nvSpPr>
        <p:spPr>
          <a:xfrm>
            <a:off x="365760" y="2743200"/>
            <a:ext cx="64008" cy="109728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8" y="3017520"/>
            <a:ext cx="777240" cy="548640"/>
          </a:xfrm>
          <a:prstGeom prst="rect">
            <a:avLst/>
          </a:prstGeom>
          <a:noFill/>
        </p:spPr>
        <p:txBody>
          <a:bodyPr wrap="square">
            <a:spAutoFit/>
          </a:bodyPr>
          <a:lstStyle/>
          <a:p>
            <a:pPr algn="ctr">
              <a:defRPr sz="1200" b="1" i="0">
                <a:solidFill>
                  <a:srgbClr val="107C10"/>
                </a:solidFill>
                <a:latin typeface="Segoe UI"/>
              </a:defRPr>
            </a:pPr>
            <a:r>
              <a:t>Remarks</a:t>
            </a:r>
            <a:br/>
            <a:r>
              <a:t>Search</a:t>
            </a:r>
          </a:p>
        </p:txBody>
      </p:sp>
      <p:sp>
        <p:nvSpPr>
          <p:cNvPr id="27" name="Rounded Rectangle 26"/>
          <p:cNvSpPr/>
          <p:nvPr/>
        </p:nvSpPr>
        <p:spPr>
          <a:xfrm>
            <a:off x="1280160" y="2743200"/>
            <a:ext cx="2148840" cy="109728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353312" y="2816352"/>
            <a:ext cx="237744" cy="237744"/>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1</a:t>
            </a:r>
          </a:p>
        </p:txBody>
      </p:sp>
      <p:sp>
        <p:nvSpPr>
          <p:cNvPr id="29" name="TextBox 28"/>
          <p:cNvSpPr txBox="1"/>
          <p:nvPr/>
        </p:nvSpPr>
        <p:spPr>
          <a:xfrm>
            <a:off x="1645920" y="2816352"/>
            <a:ext cx="1691640" cy="365760"/>
          </a:xfrm>
          <a:prstGeom prst="rect">
            <a:avLst/>
          </a:prstGeom>
          <a:noFill/>
        </p:spPr>
        <p:txBody>
          <a:bodyPr wrap="square">
            <a:spAutoFit/>
          </a:bodyPr>
          <a:lstStyle/>
          <a:p>
            <a:pPr algn="l">
              <a:defRPr sz="1100" b="1" i="0">
                <a:solidFill>
                  <a:srgbClr val="1A1A1A"/>
                </a:solidFill>
                <a:latin typeface="Segoe UI"/>
              </a:defRPr>
            </a:pPr>
            <a:r>
              <a:t>User asks in Teams</a:t>
            </a:r>
          </a:p>
        </p:txBody>
      </p:sp>
      <p:sp>
        <p:nvSpPr>
          <p:cNvPr id="30" name="TextBox 29"/>
          <p:cNvSpPr txBox="1"/>
          <p:nvPr/>
        </p:nvSpPr>
        <p:spPr>
          <a:xfrm>
            <a:off x="1645920" y="3200400"/>
            <a:ext cx="1691640" cy="548640"/>
          </a:xfrm>
          <a:prstGeom prst="rect">
            <a:avLst/>
          </a:prstGeom>
          <a:noFill/>
        </p:spPr>
        <p:txBody>
          <a:bodyPr wrap="square">
            <a:spAutoFit/>
          </a:bodyPr>
          <a:lstStyle/>
          <a:p>
            <a:pPr algn="l">
              <a:defRPr sz="900" b="0" i="0">
                <a:solidFill>
                  <a:srgbClr val="555555"/>
                </a:solidFill>
                <a:latin typeface="Segoe UI"/>
              </a:defRPr>
            </a:pPr>
            <a:r>
              <a:t>"What has the Governor</a:t>
            </a:r>
            <a:br/>
            <a:r>
              <a:t>said about teacher pay?"</a:t>
            </a:r>
          </a:p>
        </p:txBody>
      </p:sp>
      <p:sp>
        <p:nvSpPr>
          <p:cNvPr id="31" name="TextBox 30"/>
          <p:cNvSpPr txBox="1"/>
          <p:nvPr/>
        </p:nvSpPr>
        <p:spPr>
          <a:xfrm>
            <a:off x="3429000" y="3182112"/>
            <a:ext cx="274320" cy="228600"/>
          </a:xfrm>
          <a:prstGeom prst="rect">
            <a:avLst/>
          </a:prstGeom>
          <a:noFill/>
        </p:spPr>
        <p:txBody>
          <a:bodyPr wrap="square">
            <a:spAutoFit/>
          </a:bodyPr>
          <a:lstStyle/>
          <a:p>
            <a:pPr algn="ctr">
              <a:defRPr sz="1800" b="0" i="0">
                <a:solidFill>
                  <a:srgbClr val="BBBBBB"/>
                </a:solidFill>
                <a:latin typeface="Segoe UI"/>
              </a:defRPr>
            </a:pPr>
            <a:r>
              <a:t>→</a:t>
            </a:r>
          </a:p>
        </p:txBody>
      </p:sp>
      <p:sp>
        <p:nvSpPr>
          <p:cNvPr id="32" name="Rounded Rectangle 31"/>
          <p:cNvSpPr/>
          <p:nvPr/>
        </p:nvSpPr>
        <p:spPr>
          <a:xfrm>
            <a:off x="3703320" y="2743200"/>
            <a:ext cx="2148840" cy="109728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776472" y="2816352"/>
            <a:ext cx="237744" cy="237744"/>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2</a:t>
            </a:r>
          </a:p>
        </p:txBody>
      </p:sp>
      <p:sp>
        <p:nvSpPr>
          <p:cNvPr id="34" name="TextBox 33"/>
          <p:cNvSpPr txBox="1"/>
          <p:nvPr/>
        </p:nvSpPr>
        <p:spPr>
          <a:xfrm>
            <a:off x="4069080" y="2816352"/>
            <a:ext cx="1691640" cy="365760"/>
          </a:xfrm>
          <a:prstGeom prst="rect">
            <a:avLst/>
          </a:prstGeom>
          <a:noFill/>
        </p:spPr>
        <p:txBody>
          <a:bodyPr wrap="square">
            <a:spAutoFit/>
          </a:bodyPr>
          <a:lstStyle/>
          <a:p>
            <a:pPr algn="l">
              <a:defRPr sz="1100" b="1" i="0">
                <a:solidFill>
                  <a:srgbClr val="1A1A1A"/>
                </a:solidFill>
                <a:latin typeface="Segoe UI"/>
              </a:defRPr>
            </a:pPr>
            <a:r>
              <a:t>APIM routes request</a:t>
            </a:r>
          </a:p>
        </p:txBody>
      </p:sp>
      <p:sp>
        <p:nvSpPr>
          <p:cNvPr id="35" name="TextBox 34"/>
          <p:cNvSpPr txBox="1"/>
          <p:nvPr/>
        </p:nvSpPr>
        <p:spPr>
          <a:xfrm>
            <a:off x="4069080" y="3200400"/>
            <a:ext cx="1691640" cy="548640"/>
          </a:xfrm>
          <a:prstGeom prst="rect">
            <a:avLst/>
          </a:prstGeom>
          <a:noFill/>
        </p:spPr>
        <p:txBody>
          <a:bodyPr wrap="square">
            <a:spAutoFit/>
          </a:bodyPr>
          <a:lstStyle/>
          <a:p>
            <a:pPr algn="l">
              <a:defRPr sz="900" b="0" i="0">
                <a:solidFill>
                  <a:srgbClr val="555555"/>
                </a:solidFill>
                <a:latin typeface="Segoe UI"/>
              </a:defRPr>
            </a:pPr>
            <a:r>
              <a:t>Subscription key auth</a:t>
            </a:r>
            <a:br/>
            <a:r>
              <a:t>→ remarks-query function</a:t>
            </a:r>
          </a:p>
        </p:txBody>
      </p:sp>
      <p:sp>
        <p:nvSpPr>
          <p:cNvPr id="36" name="TextBox 35"/>
          <p:cNvSpPr txBox="1"/>
          <p:nvPr/>
        </p:nvSpPr>
        <p:spPr>
          <a:xfrm>
            <a:off x="5852160" y="3182112"/>
            <a:ext cx="274320" cy="228600"/>
          </a:xfrm>
          <a:prstGeom prst="rect">
            <a:avLst/>
          </a:prstGeom>
          <a:noFill/>
        </p:spPr>
        <p:txBody>
          <a:bodyPr wrap="square">
            <a:spAutoFit/>
          </a:bodyPr>
          <a:lstStyle/>
          <a:p>
            <a:pPr algn="ctr">
              <a:defRPr sz="1800" b="0" i="0">
                <a:solidFill>
                  <a:srgbClr val="BBBBBB"/>
                </a:solidFill>
                <a:latin typeface="Segoe UI"/>
              </a:defRPr>
            </a:pPr>
            <a:r>
              <a:t>→</a:t>
            </a:r>
          </a:p>
        </p:txBody>
      </p:sp>
      <p:sp>
        <p:nvSpPr>
          <p:cNvPr id="37" name="Rounded Rectangle 36"/>
          <p:cNvSpPr/>
          <p:nvPr/>
        </p:nvSpPr>
        <p:spPr>
          <a:xfrm>
            <a:off x="6126480" y="2743200"/>
            <a:ext cx="2148840" cy="109728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199632" y="2816352"/>
            <a:ext cx="237744" cy="237744"/>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3</a:t>
            </a:r>
          </a:p>
        </p:txBody>
      </p:sp>
      <p:sp>
        <p:nvSpPr>
          <p:cNvPr id="39" name="TextBox 38"/>
          <p:cNvSpPr txBox="1"/>
          <p:nvPr/>
        </p:nvSpPr>
        <p:spPr>
          <a:xfrm>
            <a:off x="6492240" y="2816352"/>
            <a:ext cx="1691640" cy="365760"/>
          </a:xfrm>
          <a:prstGeom prst="rect">
            <a:avLst/>
          </a:prstGeom>
          <a:noFill/>
        </p:spPr>
        <p:txBody>
          <a:bodyPr wrap="square">
            <a:spAutoFit/>
          </a:bodyPr>
          <a:lstStyle/>
          <a:p>
            <a:pPr algn="l">
              <a:defRPr sz="1100" b="1" i="0">
                <a:solidFill>
                  <a:srgbClr val="1A1A1A"/>
                </a:solidFill>
                <a:latin typeface="Segoe UI"/>
              </a:defRPr>
            </a:pPr>
            <a:r>
              <a:t>AI Search + GPT-4o</a:t>
            </a:r>
          </a:p>
        </p:txBody>
      </p:sp>
      <p:sp>
        <p:nvSpPr>
          <p:cNvPr id="40" name="TextBox 39"/>
          <p:cNvSpPr txBox="1"/>
          <p:nvPr/>
        </p:nvSpPr>
        <p:spPr>
          <a:xfrm>
            <a:off x="6492240" y="3200400"/>
            <a:ext cx="1691640" cy="548640"/>
          </a:xfrm>
          <a:prstGeom prst="rect">
            <a:avLst/>
          </a:prstGeom>
          <a:noFill/>
        </p:spPr>
        <p:txBody>
          <a:bodyPr wrap="square">
            <a:spAutoFit/>
          </a:bodyPr>
          <a:lstStyle/>
          <a:p>
            <a:pPr algn="l">
              <a:defRPr sz="900" b="0" i="0">
                <a:solidFill>
                  <a:srgbClr val="555555"/>
                </a:solidFill>
                <a:latin typeface="Segoe UI"/>
              </a:defRPr>
            </a:pPr>
            <a:r>
              <a:t>Retrieve chunks, then</a:t>
            </a:r>
            <a:br/>
            <a:r>
              <a:t>synthesize with quotes</a:t>
            </a:r>
          </a:p>
        </p:txBody>
      </p:sp>
      <p:sp>
        <p:nvSpPr>
          <p:cNvPr id="41" name="TextBox 40"/>
          <p:cNvSpPr txBox="1"/>
          <p:nvPr/>
        </p:nvSpPr>
        <p:spPr>
          <a:xfrm>
            <a:off x="8275320" y="3182112"/>
            <a:ext cx="274320" cy="228600"/>
          </a:xfrm>
          <a:prstGeom prst="rect">
            <a:avLst/>
          </a:prstGeom>
          <a:noFill/>
        </p:spPr>
        <p:txBody>
          <a:bodyPr wrap="square">
            <a:spAutoFit/>
          </a:bodyPr>
          <a:lstStyle/>
          <a:p>
            <a:pPr algn="ctr">
              <a:defRPr sz="1800" b="0" i="0">
                <a:solidFill>
                  <a:srgbClr val="BBBBBB"/>
                </a:solidFill>
                <a:latin typeface="Segoe UI"/>
              </a:defRPr>
            </a:pPr>
            <a:r>
              <a:t>→</a:t>
            </a:r>
          </a:p>
        </p:txBody>
      </p:sp>
      <p:sp>
        <p:nvSpPr>
          <p:cNvPr id="42" name="Rounded Rectangle 41"/>
          <p:cNvSpPr/>
          <p:nvPr/>
        </p:nvSpPr>
        <p:spPr>
          <a:xfrm>
            <a:off x="8549640" y="2743200"/>
            <a:ext cx="2148840" cy="109728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622792" y="2816352"/>
            <a:ext cx="237744" cy="237744"/>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4</a:t>
            </a:r>
          </a:p>
        </p:txBody>
      </p:sp>
      <p:sp>
        <p:nvSpPr>
          <p:cNvPr id="44" name="TextBox 43"/>
          <p:cNvSpPr txBox="1"/>
          <p:nvPr/>
        </p:nvSpPr>
        <p:spPr>
          <a:xfrm>
            <a:off x="8915400" y="2816352"/>
            <a:ext cx="1691640" cy="365760"/>
          </a:xfrm>
          <a:prstGeom prst="rect">
            <a:avLst/>
          </a:prstGeom>
          <a:noFill/>
        </p:spPr>
        <p:txBody>
          <a:bodyPr wrap="square">
            <a:spAutoFit/>
          </a:bodyPr>
          <a:lstStyle/>
          <a:p>
            <a:pPr algn="l">
              <a:defRPr sz="1100" b="1" i="0">
                <a:solidFill>
                  <a:srgbClr val="1A1A1A"/>
                </a:solidFill>
                <a:latin typeface="Segoe UI"/>
              </a:defRPr>
            </a:pPr>
            <a:r>
              <a:t>Return summary</a:t>
            </a:r>
          </a:p>
        </p:txBody>
      </p:sp>
      <p:sp>
        <p:nvSpPr>
          <p:cNvPr id="45" name="TextBox 44"/>
          <p:cNvSpPr txBox="1"/>
          <p:nvPr/>
        </p:nvSpPr>
        <p:spPr>
          <a:xfrm>
            <a:off x="8915400" y="3200400"/>
            <a:ext cx="1691640" cy="548640"/>
          </a:xfrm>
          <a:prstGeom prst="rect">
            <a:avLst/>
          </a:prstGeom>
          <a:noFill/>
        </p:spPr>
        <p:txBody>
          <a:bodyPr wrap="square">
            <a:spAutoFit/>
          </a:bodyPr>
          <a:lstStyle/>
          <a:p>
            <a:pPr algn="l">
              <a:defRPr sz="900" b="0" i="0">
                <a:solidFill>
                  <a:srgbClr val="555555"/>
                </a:solidFill>
                <a:latin typeface="Segoe UI"/>
              </a:defRPr>
            </a:pPr>
            <a:r>
              <a:t>Written synthesis with</a:t>
            </a:r>
            <a:br/>
            <a:r>
              <a:t>direct quotes + sources</a:t>
            </a:r>
          </a:p>
        </p:txBody>
      </p:sp>
      <p:sp>
        <p:nvSpPr>
          <p:cNvPr id="46" name="Rectangle 45"/>
          <p:cNvSpPr/>
          <p:nvPr/>
        </p:nvSpPr>
        <p:spPr>
          <a:xfrm>
            <a:off x="365760" y="4206240"/>
            <a:ext cx="64008" cy="1097280"/>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5488" y="4480560"/>
            <a:ext cx="777240" cy="548640"/>
          </a:xfrm>
          <a:prstGeom prst="rect">
            <a:avLst/>
          </a:prstGeom>
          <a:noFill/>
        </p:spPr>
        <p:txBody>
          <a:bodyPr wrap="square">
            <a:spAutoFit/>
          </a:bodyPr>
          <a:lstStyle/>
          <a:p>
            <a:pPr algn="ctr">
              <a:defRPr sz="1200" b="1" i="0">
                <a:solidFill>
                  <a:srgbClr val="D83B01"/>
                </a:solidFill>
                <a:latin typeface="Segoe UI"/>
              </a:defRPr>
            </a:pPr>
            <a:r>
              <a:t>Proof-</a:t>
            </a:r>
            <a:br/>
            <a:r>
              <a:t>read</a:t>
            </a:r>
          </a:p>
        </p:txBody>
      </p:sp>
      <p:sp>
        <p:nvSpPr>
          <p:cNvPr id="48" name="Rounded Rectangle 47"/>
          <p:cNvSpPr/>
          <p:nvPr/>
        </p:nvSpPr>
        <p:spPr>
          <a:xfrm>
            <a:off x="1280160" y="4206240"/>
            <a:ext cx="2148840" cy="109728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353312" y="4279392"/>
            <a:ext cx="237744" cy="237744"/>
          </a:xfrm>
          <a:prstGeom prst="ellipse">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1</a:t>
            </a:r>
          </a:p>
        </p:txBody>
      </p:sp>
      <p:sp>
        <p:nvSpPr>
          <p:cNvPr id="50" name="TextBox 49"/>
          <p:cNvSpPr txBox="1"/>
          <p:nvPr/>
        </p:nvSpPr>
        <p:spPr>
          <a:xfrm>
            <a:off x="1645920" y="4279392"/>
            <a:ext cx="1691640" cy="365760"/>
          </a:xfrm>
          <a:prstGeom prst="rect">
            <a:avLst/>
          </a:prstGeom>
          <a:noFill/>
        </p:spPr>
        <p:txBody>
          <a:bodyPr wrap="square">
            <a:spAutoFit/>
          </a:bodyPr>
          <a:lstStyle/>
          <a:p>
            <a:pPr algn="l">
              <a:defRPr sz="1100" b="1" i="0">
                <a:solidFill>
                  <a:srgbClr val="1A1A1A"/>
                </a:solidFill>
                <a:latin typeface="Segoe UI"/>
              </a:defRPr>
            </a:pPr>
            <a:r>
              <a:t>User pastes transcript</a:t>
            </a:r>
          </a:p>
        </p:txBody>
      </p:sp>
      <p:sp>
        <p:nvSpPr>
          <p:cNvPr id="51" name="TextBox 50"/>
          <p:cNvSpPr txBox="1"/>
          <p:nvPr/>
        </p:nvSpPr>
        <p:spPr>
          <a:xfrm>
            <a:off x="1645920" y="4663440"/>
            <a:ext cx="1691640" cy="548640"/>
          </a:xfrm>
          <a:prstGeom prst="rect">
            <a:avLst/>
          </a:prstGeom>
          <a:noFill/>
        </p:spPr>
        <p:txBody>
          <a:bodyPr wrap="square">
            <a:spAutoFit/>
          </a:bodyPr>
          <a:lstStyle/>
          <a:p>
            <a:pPr algn="l">
              <a:defRPr sz="900" b="0" i="0">
                <a:solidFill>
                  <a:srgbClr val="555555"/>
                </a:solidFill>
                <a:latin typeface="Segoe UI"/>
              </a:defRPr>
            </a:pPr>
            <a:r>
              <a:t>Raw text with</a:t>
            </a:r>
            <a:br/>
            <a:r>
              <a:t>ASR/OCR errors</a:t>
            </a:r>
          </a:p>
        </p:txBody>
      </p:sp>
      <p:sp>
        <p:nvSpPr>
          <p:cNvPr id="52" name="TextBox 51"/>
          <p:cNvSpPr txBox="1"/>
          <p:nvPr/>
        </p:nvSpPr>
        <p:spPr>
          <a:xfrm>
            <a:off x="3429000" y="4645152"/>
            <a:ext cx="274320" cy="228600"/>
          </a:xfrm>
          <a:prstGeom prst="rect">
            <a:avLst/>
          </a:prstGeom>
          <a:noFill/>
        </p:spPr>
        <p:txBody>
          <a:bodyPr wrap="square">
            <a:spAutoFit/>
          </a:bodyPr>
          <a:lstStyle/>
          <a:p>
            <a:pPr algn="ctr">
              <a:defRPr sz="1800" b="0" i="0">
                <a:solidFill>
                  <a:srgbClr val="BBBBBB"/>
                </a:solidFill>
                <a:latin typeface="Segoe UI"/>
              </a:defRPr>
            </a:pPr>
            <a:r>
              <a:t>→</a:t>
            </a:r>
          </a:p>
        </p:txBody>
      </p:sp>
      <p:sp>
        <p:nvSpPr>
          <p:cNvPr id="53" name="Rounded Rectangle 52"/>
          <p:cNvSpPr/>
          <p:nvPr/>
        </p:nvSpPr>
        <p:spPr>
          <a:xfrm>
            <a:off x="3703320" y="4206240"/>
            <a:ext cx="2148840" cy="109728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776472" y="4279392"/>
            <a:ext cx="237744" cy="237744"/>
          </a:xfrm>
          <a:prstGeom prst="ellipse">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2</a:t>
            </a:r>
          </a:p>
        </p:txBody>
      </p:sp>
      <p:sp>
        <p:nvSpPr>
          <p:cNvPr id="55" name="TextBox 54"/>
          <p:cNvSpPr txBox="1"/>
          <p:nvPr/>
        </p:nvSpPr>
        <p:spPr>
          <a:xfrm>
            <a:off x="4069080" y="4279392"/>
            <a:ext cx="1691640" cy="365760"/>
          </a:xfrm>
          <a:prstGeom prst="rect">
            <a:avLst/>
          </a:prstGeom>
          <a:noFill/>
        </p:spPr>
        <p:txBody>
          <a:bodyPr wrap="square">
            <a:spAutoFit/>
          </a:bodyPr>
          <a:lstStyle/>
          <a:p>
            <a:pPr algn="l">
              <a:defRPr sz="1100" b="1" i="0">
                <a:solidFill>
                  <a:srgbClr val="1A1A1A"/>
                </a:solidFill>
                <a:latin typeface="Segoe UI"/>
              </a:defRPr>
            </a:pPr>
            <a:r>
              <a:t>APIM routes request</a:t>
            </a:r>
          </a:p>
        </p:txBody>
      </p:sp>
      <p:sp>
        <p:nvSpPr>
          <p:cNvPr id="56" name="TextBox 55"/>
          <p:cNvSpPr txBox="1"/>
          <p:nvPr/>
        </p:nvSpPr>
        <p:spPr>
          <a:xfrm>
            <a:off x="4069080" y="4663440"/>
            <a:ext cx="1691640" cy="548640"/>
          </a:xfrm>
          <a:prstGeom prst="rect">
            <a:avLst/>
          </a:prstGeom>
          <a:noFill/>
        </p:spPr>
        <p:txBody>
          <a:bodyPr wrap="square">
            <a:spAutoFit/>
          </a:bodyPr>
          <a:lstStyle/>
          <a:p>
            <a:pPr algn="l">
              <a:defRPr sz="900" b="0" i="0">
                <a:solidFill>
                  <a:srgbClr val="555555"/>
                </a:solidFill>
                <a:latin typeface="Segoe UI"/>
              </a:defRPr>
            </a:pPr>
            <a:r>
              <a:t>Subscription key auth</a:t>
            </a:r>
            <a:br/>
            <a:r>
              <a:t>→ proofread function</a:t>
            </a:r>
          </a:p>
        </p:txBody>
      </p:sp>
      <p:sp>
        <p:nvSpPr>
          <p:cNvPr id="57" name="TextBox 56"/>
          <p:cNvSpPr txBox="1"/>
          <p:nvPr/>
        </p:nvSpPr>
        <p:spPr>
          <a:xfrm>
            <a:off x="5852160" y="4645152"/>
            <a:ext cx="274320" cy="228600"/>
          </a:xfrm>
          <a:prstGeom prst="rect">
            <a:avLst/>
          </a:prstGeom>
          <a:noFill/>
        </p:spPr>
        <p:txBody>
          <a:bodyPr wrap="square">
            <a:spAutoFit/>
          </a:bodyPr>
          <a:lstStyle/>
          <a:p>
            <a:pPr algn="ctr">
              <a:defRPr sz="1800" b="0" i="0">
                <a:solidFill>
                  <a:srgbClr val="BBBBBB"/>
                </a:solidFill>
                <a:latin typeface="Segoe UI"/>
              </a:defRPr>
            </a:pPr>
            <a:r>
              <a:t>→</a:t>
            </a:r>
          </a:p>
        </p:txBody>
      </p:sp>
      <p:sp>
        <p:nvSpPr>
          <p:cNvPr id="58" name="Rounded Rectangle 57"/>
          <p:cNvSpPr/>
          <p:nvPr/>
        </p:nvSpPr>
        <p:spPr>
          <a:xfrm>
            <a:off x="6126480" y="4206240"/>
            <a:ext cx="2148840" cy="109728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199632" y="4279392"/>
            <a:ext cx="237744" cy="237744"/>
          </a:xfrm>
          <a:prstGeom prst="ellipse">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3</a:t>
            </a:r>
          </a:p>
        </p:txBody>
      </p:sp>
      <p:sp>
        <p:nvSpPr>
          <p:cNvPr id="60" name="TextBox 59"/>
          <p:cNvSpPr txBox="1"/>
          <p:nvPr/>
        </p:nvSpPr>
        <p:spPr>
          <a:xfrm>
            <a:off x="6492240" y="4279392"/>
            <a:ext cx="1691640" cy="365760"/>
          </a:xfrm>
          <a:prstGeom prst="rect">
            <a:avLst/>
          </a:prstGeom>
          <a:noFill/>
        </p:spPr>
        <p:txBody>
          <a:bodyPr wrap="square">
            <a:spAutoFit/>
          </a:bodyPr>
          <a:lstStyle/>
          <a:p>
            <a:pPr algn="l">
              <a:defRPr sz="1100" b="1" i="0">
                <a:solidFill>
                  <a:srgbClr val="1A1A1A"/>
                </a:solidFill>
                <a:latin typeface="Segoe UI"/>
              </a:defRPr>
            </a:pPr>
            <a:r>
              <a:t>GPT-4o proofreads</a:t>
            </a:r>
          </a:p>
        </p:txBody>
      </p:sp>
      <p:sp>
        <p:nvSpPr>
          <p:cNvPr id="61" name="TextBox 60"/>
          <p:cNvSpPr txBox="1"/>
          <p:nvPr/>
        </p:nvSpPr>
        <p:spPr>
          <a:xfrm>
            <a:off x="6492240" y="4663440"/>
            <a:ext cx="1691640" cy="548640"/>
          </a:xfrm>
          <a:prstGeom prst="rect">
            <a:avLst/>
          </a:prstGeom>
          <a:noFill/>
        </p:spPr>
        <p:txBody>
          <a:bodyPr wrap="square">
            <a:spAutoFit/>
          </a:bodyPr>
          <a:lstStyle/>
          <a:p>
            <a:pPr algn="l">
              <a:defRPr sz="900" b="0" i="0">
                <a:solidFill>
                  <a:srgbClr val="555555"/>
                </a:solidFill>
                <a:latin typeface="Segoe UI"/>
              </a:defRPr>
            </a:pPr>
            <a:r>
              <a:t>Fix errors, preserve</a:t>
            </a:r>
            <a:br/>
            <a:r>
              <a:t>speaking style</a:t>
            </a:r>
          </a:p>
        </p:txBody>
      </p:sp>
      <p:sp>
        <p:nvSpPr>
          <p:cNvPr id="62" name="TextBox 61"/>
          <p:cNvSpPr txBox="1"/>
          <p:nvPr/>
        </p:nvSpPr>
        <p:spPr>
          <a:xfrm>
            <a:off x="8275320" y="4645152"/>
            <a:ext cx="274320" cy="228600"/>
          </a:xfrm>
          <a:prstGeom prst="rect">
            <a:avLst/>
          </a:prstGeom>
          <a:noFill/>
        </p:spPr>
        <p:txBody>
          <a:bodyPr wrap="square">
            <a:spAutoFit/>
          </a:bodyPr>
          <a:lstStyle/>
          <a:p>
            <a:pPr algn="ctr">
              <a:defRPr sz="1800" b="0" i="0">
                <a:solidFill>
                  <a:srgbClr val="BBBBBB"/>
                </a:solidFill>
                <a:latin typeface="Segoe UI"/>
              </a:defRPr>
            </a:pPr>
            <a:r>
              <a:t>→</a:t>
            </a:r>
          </a:p>
        </p:txBody>
      </p:sp>
      <p:sp>
        <p:nvSpPr>
          <p:cNvPr id="63" name="Rounded Rectangle 62"/>
          <p:cNvSpPr/>
          <p:nvPr/>
        </p:nvSpPr>
        <p:spPr>
          <a:xfrm>
            <a:off x="8549640" y="4206240"/>
            <a:ext cx="2148840" cy="109728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622792" y="4279392"/>
            <a:ext cx="237744" cy="237744"/>
          </a:xfrm>
          <a:prstGeom prst="ellipse">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4</a:t>
            </a:r>
          </a:p>
        </p:txBody>
      </p:sp>
      <p:sp>
        <p:nvSpPr>
          <p:cNvPr id="65" name="TextBox 64"/>
          <p:cNvSpPr txBox="1"/>
          <p:nvPr/>
        </p:nvSpPr>
        <p:spPr>
          <a:xfrm>
            <a:off x="8915400" y="4279392"/>
            <a:ext cx="1691640" cy="365760"/>
          </a:xfrm>
          <a:prstGeom prst="rect">
            <a:avLst/>
          </a:prstGeom>
          <a:noFill/>
        </p:spPr>
        <p:txBody>
          <a:bodyPr wrap="square">
            <a:spAutoFit/>
          </a:bodyPr>
          <a:lstStyle/>
          <a:p>
            <a:pPr algn="l">
              <a:defRPr sz="1100" b="1" i="0">
                <a:solidFill>
                  <a:srgbClr val="1A1A1A"/>
                </a:solidFill>
                <a:latin typeface="Segoe UI"/>
              </a:defRPr>
            </a:pPr>
            <a:r>
              <a:t>Return corrections</a:t>
            </a:r>
          </a:p>
        </p:txBody>
      </p:sp>
      <p:sp>
        <p:nvSpPr>
          <p:cNvPr id="66" name="TextBox 65"/>
          <p:cNvSpPr txBox="1"/>
          <p:nvPr/>
        </p:nvSpPr>
        <p:spPr>
          <a:xfrm>
            <a:off x="8915400" y="4663440"/>
            <a:ext cx="1691640" cy="548640"/>
          </a:xfrm>
          <a:prstGeom prst="rect">
            <a:avLst/>
          </a:prstGeom>
          <a:noFill/>
        </p:spPr>
        <p:txBody>
          <a:bodyPr wrap="square">
            <a:spAutoFit/>
          </a:bodyPr>
          <a:lstStyle/>
          <a:p>
            <a:pPr algn="l">
              <a:defRPr sz="900" b="0" i="0">
                <a:solidFill>
                  <a:srgbClr val="555555"/>
                </a:solidFill>
                <a:latin typeface="Segoe UI"/>
              </a:defRPr>
            </a:pPr>
            <a:r>
              <a:t>Clean text + change list</a:t>
            </a:r>
            <a:br/>
            <a:r>
              <a:t>with confidence levels</a:t>
            </a:r>
          </a:p>
        </p:txBody>
      </p:sp>
      <p:sp>
        <p:nvSpPr>
          <p:cNvPr id="67" name="TextBox 66"/>
          <p:cNvSpPr txBox="1"/>
          <p:nvPr/>
        </p:nvSpPr>
        <p:spPr>
          <a:xfrm>
            <a:off x="548640" y="6446520"/>
            <a:ext cx="4572000" cy="274320"/>
          </a:xfrm>
          <a:prstGeom prst="rect">
            <a:avLst/>
          </a:prstGeom>
          <a:noFill/>
        </p:spPr>
        <p:txBody>
          <a:bodyPr wrap="square">
            <a:spAutoFit/>
          </a:bodyPr>
          <a:lstStyle/>
          <a:p>
            <a:pPr algn="l">
              <a:defRPr sz="900" b="0" i="0">
                <a:solidFill>
                  <a:srgbClr val="BBBBBB"/>
                </a:solidFill>
                <a:latin typeface="Segoe UI"/>
              </a:defRPr>
            </a:pPr>
            <a:r>
              <a:t>NC DIT AI Office</a:t>
            </a:r>
          </a:p>
        </p:txBody>
      </p:sp>
      <p:sp>
        <p:nvSpPr>
          <p:cNvPr id="68" name="TextBox 67"/>
          <p:cNvSpPr txBox="1"/>
          <p:nvPr/>
        </p:nvSpPr>
        <p:spPr>
          <a:xfrm>
            <a:off x="6858000" y="6446520"/>
            <a:ext cx="4572000" cy="274320"/>
          </a:xfrm>
          <a:prstGeom prst="rect">
            <a:avLst/>
          </a:prstGeom>
          <a:noFill/>
        </p:spPr>
        <p:txBody>
          <a:bodyPr wrap="square">
            <a:spAutoFit/>
          </a:bodyPr>
          <a:lstStyle/>
          <a:p>
            <a:pPr algn="r">
              <a:defRPr sz="900" b="0" i="0">
                <a:solidFill>
                  <a:srgbClr val="BBBBBB"/>
                </a:solidFill>
                <a:latin typeface="Segoe UI"/>
              </a:defRPr>
            </a:pPr>
            <a:r>
              <a:t>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10972800" cy="502920"/>
          </a:xfrm>
          <a:prstGeom prst="rect">
            <a:avLst/>
          </a:prstGeom>
          <a:noFill/>
        </p:spPr>
        <p:txBody>
          <a:bodyPr wrap="square">
            <a:spAutoFit/>
          </a:bodyPr>
          <a:lstStyle/>
          <a:p>
            <a:pPr algn="l">
              <a:defRPr sz="3400" b="1" i="0">
                <a:solidFill>
                  <a:srgbClr val="0A2463"/>
                </a:solidFill>
                <a:latin typeface="Segoe UI"/>
              </a:defRPr>
            </a:pPr>
            <a:r>
              <a:t>Data Flow</a:t>
            </a:r>
          </a:p>
        </p:txBody>
      </p:sp>
      <p:sp>
        <p:nvSpPr>
          <p:cNvPr id="3" name="TextBox 2"/>
          <p:cNvSpPr txBox="1"/>
          <p:nvPr/>
        </p:nvSpPr>
        <p:spPr>
          <a:xfrm>
            <a:off x="548640" y="685800"/>
            <a:ext cx="10972800" cy="274320"/>
          </a:xfrm>
          <a:prstGeom prst="rect">
            <a:avLst/>
          </a:prstGeom>
          <a:noFill/>
        </p:spPr>
        <p:txBody>
          <a:bodyPr wrap="square">
            <a:spAutoFit/>
          </a:bodyPr>
          <a:lstStyle/>
          <a:p>
            <a:pPr algn="l">
              <a:defRPr sz="1400" b="0" i="0">
                <a:solidFill>
                  <a:srgbClr val="888888"/>
                </a:solidFill>
                <a:latin typeface="Segoe UI"/>
              </a:defRPr>
            </a:pPr>
            <a:r>
              <a:t>How data enters the system and how users get answers</a:t>
            </a:r>
          </a:p>
        </p:txBody>
      </p:sp>
      <p:sp>
        <p:nvSpPr>
          <p:cNvPr id="4" name="TextBox 3"/>
          <p:cNvSpPr txBox="1"/>
          <p:nvPr/>
        </p:nvSpPr>
        <p:spPr>
          <a:xfrm>
            <a:off x="548640" y="1051560"/>
            <a:ext cx="2743200" cy="274320"/>
          </a:xfrm>
          <a:prstGeom prst="rect">
            <a:avLst/>
          </a:prstGeom>
          <a:noFill/>
        </p:spPr>
        <p:txBody>
          <a:bodyPr wrap="square">
            <a:spAutoFit/>
          </a:bodyPr>
          <a:lstStyle/>
          <a:p>
            <a:pPr algn="l">
              <a:defRPr sz="1200" b="1" i="0">
                <a:solidFill>
                  <a:srgbClr val="0A2463"/>
                </a:solidFill>
                <a:latin typeface="Segoe UI"/>
              </a:defRPr>
            </a:pPr>
            <a:r>
              <a:t>DATA IN — Ingestion</a:t>
            </a:r>
          </a:p>
        </p:txBody>
      </p:sp>
      <p:sp>
        <p:nvSpPr>
          <p:cNvPr id="5" name="Rectangle 4"/>
          <p:cNvSpPr/>
          <p:nvPr/>
        </p:nvSpPr>
        <p:spPr>
          <a:xfrm>
            <a:off x="548640" y="1307592"/>
            <a:ext cx="11064240" cy="18288"/>
          </a:xfrm>
          <a:prstGeom prst="rect">
            <a:avLst/>
          </a:prstGeom>
          <a:solidFill>
            <a:srgbClr val="0A24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0"/>
            <a:ext cx="777240" cy="411480"/>
          </a:xfrm>
          <a:prstGeom prst="rect">
            <a:avLst/>
          </a:prstGeom>
          <a:noFill/>
        </p:spPr>
        <p:txBody>
          <a:bodyPr wrap="square">
            <a:spAutoFit/>
          </a:bodyPr>
          <a:lstStyle/>
          <a:p>
            <a:pPr algn="ctr">
              <a:defRPr sz="1000" b="1" i="0">
                <a:solidFill>
                  <a:srgbClr val="0078D4"/>
                </a:solidFill>
                <a:latin typeface="Segoe UI"/>
              </a:defRPr>
            </a:pPr>
            <a:r>
              <a:t>CLIPS</a:t>
            </a:r>
          </a:p>
        </p:txBody>
      </p:sp>
      <p:sp>
        <p:nvSpPr>
          <p:cNvPr id="7" name="Rounded Rectangle 6"/>
          <p:cNvSpPr/>
          <p:nvPr/>
        </p:nvSpPr>
        <p:spPr>
          <a:xfrm>
            <a:off x="1280160" y="1417320"/>
            <a:ext cx="2148840" cy="68580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53312" y="1490472"/>
            <a:ext cx="2002536" cy="256032"/>
          </a:xfrm>
          <a:prstGeom prst="rect">
            <a:avLst/>
          </a:prstGeom>
          <a:noFill/>
        </p:spPr>
        <p:txBody>
          <a:bodyPr wrap="square">
            <a:spAutoFit/>
          </a:bodyPr>
          <a:lstStyle/>
          <a:p>
            <a:pPr algn="ctr">
              <a:defRPr sz="1000" b="1" i="0">
                <a:solidFill>
                  <a:srgbClr val="FFFFFF"/>
                </a:solidFill>
                <a:latin typeface="Segoe UI"/>
              </a:defRPr>
            </a:pPr>
            <a:r>
              <a:t>Timer — 7 AM daily</a:t>
            </a:r>
          </a:p>
        </p:txBody>
      </p:sp>
      <p:sp>
        <p:nvSpPr>
          <p:cNvPr id="9" name="TextBox 8"/>
          <p:cNvSpPr txBox="1"/>
          <p:nvPr/>
        </p:nvSpPr>
        <p:spPr>
          <a:xfrm>
            <a:off x="1353312" y="1764792"/>
            <a:ext cx="2002536" cy="292608"/>
          </a:xfrm>
          <a:prstGeom prst="rect">
            <a:avLst/>
          </a:prstGeom>
          <a:noFill/>
        </p:spPr>
        <p:txBody>
          <a:bodyPr wrap="square">
            <a:spAutoFit/>
          </a:bodyPr>
          <a:lstStyle/>
          <a:p>
            <a:pPr algn="ctr">
              <a:defRPr sz="800" b="0" i="0">
                <a:solidFill>
                  <a:srgbClr val="EEEEEE"/>
                </a:solidFill>
                <a:latin typeface="Segoe UI"/>
              </a:defRPr>
            </a:pPr>
            <a:r>
              <a:t>Azure Function</a:t>
            </a:r>
            <a:br/>
            <a:r>
              <a:t>clips-ingest</a:t>
            </a:r>
          </a:p>
        </p:txBody>
      </p:sp>
      <p:sp>
        <p:nvSpPr>
          <p:cNvPr id="10" name="TextBox 9"/>
          <p:cNvSpPr txBox="1"/>
          <p:nvPr/>
        </p:nvSpPr>
        <p:spPr>
          <a:xfrm>
            <a:off x="3429000" y="166878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11" name="Rounded Rectangle 10"/>
          <p:cNvSpPr/>
          <p:nvPr/>
        </p:nvSpPr>
        <p:spPr>
          <a:xfrm>
            <a:off x="3685032" y="141732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58184" y="1490472"/>
            <a:ext cx="2002536" cy="256032"/>
          </a:xfrm>
          <a:prstGeom prst="rect">
            <a:avLst/>
          </a:prstGeom>
          <a:noFill/>
        </p:spPr>
        <p:txBody>
          <a:bodyPr wrap="square">
            <a:spAutoFit/>
          </a:bodyPr>
          <a:lstStyle/>
          <a:p>
            <a:pPr algn="ctr">
              <a:defRPr sz="1000" b="1" i="0">
                <a:solidFill>
                  <a:srgbClr val="1A1A1A"/>
                </a:solidFill>
                <a:latin typeface="Segoe UI"/>
              </a:defRPr>
            </a:pPr>
            <a:r>
              <a:t>Scrape + Web Search</a:t>
            </a:r>
          </a:p>
        </p:txBody>
      </p:sp>
      <p:sp>
        <p:nvSpPr>
          <p:cNvPr id="13" name="TextBox 12"/>
          <p:cNvSpPr txBox="1"/>
          <p:nvPr/>
        </p:nvSpPr>
        <p:spPr>
          <a:xfrm>
            <a:off x="3758184" y="1764792"/>
            <a:ext cx="2002536" cy="292608"/>
          </a:xfrm>
          <a:prstGeom prst="rect">
            <a:avLst/>
          </a:prstGeom>
          <a:noFill/>
        </p:spPr>
        <p:txBody>
          <a:bodyPr wrap="square">
            <a:spAutoFit/>
          </a:bodyPr>
          <a:lstStyle/>
          <a:p>
            <a:pPr algn="ctr">
              <a:defRPr sz="800" b="0" i="0">
                <a:solidFill>
                  <a:srgbClr val="555555"/>
                </a:solidFill>
                <a:latin typeface="Segoe UI"/>
              </a:defRPr>
            </a:pPr>
            <a:r>
              <a:t>governor.nc.gov +</a:t>
            </a:r>
            <a:br/>
            <a:r>
              <a:t>Bing grounding (20+ outlets)</a:t>
            </a:r>
          </a:p>
        </p:txBody>
      </p:sp>
      <p:sp>
        <p:nvSpPr>
          <p:cNvPr id="14" name="TextBox 13"/>
          <p:cNvSpPr txBox="1"/>
          <p:nvPr/>
        </p:nvSpPr>
        <p:spPr>
          <a:xfrm>
            <a:off x="5833872" y="166878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15" name="Rounded Rectangle 14"/>
          <p:cNvSpPr/>
          <p:nvPr/>
        </p:nvSpPr>
        <p:spPr>
          <a:xfrm>
            <a:off x="6089904" y="141732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63056" y="1490472"/>
            <a:ext cx="2002536" cy="256032"/>
          </a:xfrm>
          <a:prstGeom prst="rect">
            <a:avLst/>
          </a:prstGeom>
          <a:noFill/>
        </p:spPr>
        <p:txBody>
          <a:bodyPr wrap="square">
            <a:spAutoFit/>
          </a:bodyPr>
          <a:lstStyle/>
          <a:p>
            <a:pPr algn="ctr">
              <a:defRPr sz="1000" b="1" i="0">
                <a:solidFill>
                  <a:srgbClr val="1A1A1A"/>
                </a:solidFill>
                <a:latin typeface="Segoe UI"/>
              </a:defRPr>
            </a:pPr>
            <a:r>
              <a:t>Embed</a:t>
            </a:r>
          </a:p>
        </p:txBody>
      </p:sp>
      <p:sp>
        <p:nvSpPr>
          <p:cNvPr id="17" name="TextBox 16"/>
          <p:cNvSpPr txBox="1"/>
          <p:nvPr/>
        </p:nvSpPr>
        <p:spPr>
          <a:xfrm>
            <a:off x="6163056" y="1764792"/>
            <a:ext cx="2002536" cy="292608"/>
          </a:xfrm>
          <a:prstGeom prst="rect">
            <a:avLst/>
          </a:prstGeom>
          <a:noFill/>
        </p:spPr>
        <p:txBody>
          <a:bodyPr wrap="square">
            <a:spAutoFit/>
          </a:bodyPr>
          <a:lstStyle/>
          <a:p>
            <a:pPr algn="ctr">
              <a:defRPr sz="800" b="0" i="0">
                <a:solidFill>
                  <a:srgbClr val="555555"/>
                </a:solidFill>
                <a:latin typeface="Segoe UI"/>
              </a:defRPr>
            </a:pPr>
            <a:r>
              <a:t>Azure OpenAI</a:t>
            </a:r>
            <a:br/>
            <a:r>
              <a:t>text-embedding-3-large</a:t>
            </a:r>
          </a:p>
        </p:txBody>
      </p:sp>
      <p:sp>
        <p:nvSpPr>
          <p:cNvPr id="18" name="TextBox 17"/>
          <p:cNvSpPr txBox="1"/>
          <p:nvPr/>
        </p:nvSpPr>
        <p:spPr>
          <a:xfrm>
            <a:off x="8238744" y="166878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19" name="Rounded Rectangle 18"/>
          <p:cNvSpPr/>
          <p:nvPr/>
        </p:nvSpPr>
        <p:spPr>
          <a:xfrm>
            <a:off x="8494776" y="141732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67928" y="1490472"/>
            <a:ext cx="2002536" cy="256032"/>
          </a:xfrm>
          <a:prstGeom prst="rect">
            <a:avLst/>
          </a:prstGeom>
          <a:noFill/>
        </p:spPr>
        <p:txBody>
          <a:bodyPr wrap="square">
            <a:spAutoFit/>
          </a:bodyPr>
          <a:lstStyle/>
          <a:p>
            <a:pPr algn="ctr">
              <a:defRPr sz="1000" b="1" i="0">
                <a:solidFill>
                  <a:srgbClr val="1A1A1A"/>
                </a:solidFill>
                <a:latin typeface="Segoe UI"/>
              </a:defRPr>
            </a:pPr>
            <a:r>
              <a:t>Store + Index</a:t>
            </a:r>
          </a:p>
        </p:txBody>
      </p:sp>
      <p:sp>
        <p:nvSpPr>
          <p:cNvPr id="21" name="TextBox 20"/>
          <p:cNvSpPr txBox="1"/>
          <p:nvPr/>
        </p:nvSpPr>
        <p:spPr>
          <a:xfrm>
            <a:off x="8567928" y="1764792"/>
            <a:ext cx="2002536" cy="292608"/>
          </a:xfrm>
          <a:prstGeom prst="rect">
            <a:avLst/>
          </a:prstGeom>
          <a:noFill/>
        </p:spPr>
        <p:txBody>
          <a:bodyPr wrap="square">
            <a:spAutoFit/>
          </a:bodyPr>
          <a:lstStyle/>
          <a:p>
            <a:pPr algn="ctr">
              <a:defRPr sz="800" b="0" i="0">
                <a:solidFill>
                  <a:srgbClr val="555555"/>
                </a:solidFill>
                <a:latin typeface="Segoe UI"/>
              </a:defRPr>
            </a:pPr>
            <a:r>
              <a:t>Cosmos DB (metadata)</a:t>
            </a:r>
            <a:br/>
            <a:r>
              <a:t>AI Search (vectors)</a:t>
            </a:r>
          </a:p>
        </p:txBody>
      </p:sp>
      <p:sp>
        <p:nvSpPr>
          <p:cNvPr id="22" name="TextBox 21"/>
          <p:cNvSpPr txBox="1"/>
          <p:nvPr/>
        </p:nvSpPr>
        <p:spPr>
          <a:xfrm>
            <a:off x="411480" y="2423160"/>
            <a:ext cx="777240" cy="411480"/>
          </a:xfrm>
          <a:prstGeom prst="rect">
            <a:avLst/>
          </a:prstGeom>
          <a:noFill/>
        </p:spPr>
        <p:txBody>
          <a:bodyPr wrap="square">
            <a:spAutoFit/>
          </a:bodyPr>
          <a:lstStyle/>
          <a:p>
            <a:pPr algn="ctr">
              <a:defRPr sz="1000" b="1" i="0">
                <a:solidFill>
                  <a:srgbClr val="107C10"/>
                </a:solidFill>
                <a:latin typeface="Segoe UI"/>
              </a:defRPr>
            </a:pPr>
            <a:r>
              <a:t>REMARKS</a:t>
            </a:r>
          </a:p>
        </p:txBody>
      </p:sp>
      <p:sp>
        <p:nvSpPr>
          <p:cNvPr id="23" name="Rounded Rectangle 22"/>
          <p:cNvSpPr/>
          <p:nvPr/>
        </p:nvSpPr>
        <p:spPr>
          <a:xfrm>
            <a:off x="1280160" y="2286000"/>
            <a:ext cx="2148840" cy="68580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53312" y="2359152"/>
            <a:ext cx="2002536" cy="256032"/>
          </a:xfrm>
          <a:prstGeom prst="rect">
            <a:avLst/>
          </a:prstGeom>
          <a:noFill/>
        </p:spPr>
        <p:txBody>
          <a:bodyPr wrap="square">
            <a:spAutoFit/>
          </a:bodyPr>
          <a:lstStyle/>
          <a:p>
            <a:pPr algn="ctr">
              <a:defRPr sz="1000" b="1" i="0">
                <a:solidFill>
                  <a:srgbClr val="FFFFFF"/>
                </a:solidFill>
                <a:latin typeface="Segoe UI"/>
              </a:defRPr>
            </a:pPr>
            <a:r>
              <a:t>Blob Upload trigger</a:t>
            </a:r>
          </a:p>
        </p:txBody>
      </p:sp>
      <p:sp>
        <p:nvSpPr>
          <p:cNvPr id="25" name="TextBox 24"/>
          <p:cNvSpPr txBox="1"/>
          <p:nvPr/>
        </p:nvSpPr>
        <p:spPr>
          <a:xfrm>
            <a:off x="1353312" y="2633472"/>
            <a:ext cx="2002536" cy="292608"/>
          </a:xfrm>
          <a:prstGeom prst="rect">
            <a:avLst/>
          </a:prstGeom>
          <a:noFill/>
        </p:spPr>
        <p:txBody>
          <a:bodyPr wrap="square">
            <a:spAutoFit/>
          </a:bodyPr>
          <a:lstStyle/>
          <a:p>
            <a:pPr algn="ctr">
              <a:defRPr sz="800" b="0" i="0">
                <a:solidFill>
                  <a:srgbClr val="EEEEEE"/>
                </a:solidFill>
                <a:latin typeface="Segoe UI"/>
              </a:defRPr>
            </a:pPr>
            <a:r>
              <a:t>Azure Function</a:t>
            </a:r>
            <a:br/>
            <a:r>
              <a:t>remarks-ingest</a:t>
            </a:r>
          </a:p>
        </p:txBody>
      </p:sp>
      <p:sp>
        <p:nvSpPr>
          <p:cNvPr id="26" name="TextBox 25"/>
          <p:cNvSpPr txBox="1"/>
          <p:nvPr/>
        </p:nvSpPr>
        <p:spPr>
          <a:xfrm>
            <a:off x="3429000" y="253746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27" name="Rounded Rectangle 26"/>
          <p:cNvSpPr/>
          <p:nvPr/>
        </p:nvSpPr>
        <p:spPr>
          <a:xfrm>
            <a:off x="3685032" y="228600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58184" y="2359152"/>
            <a:ext cx="2002536" cy="256032"/>
          </a:xfrm>
          <a:prstGeom prst="rect">
            <a:avLst/>
          </a:prstGeom>
          <a:noFill/>
        </p:spPr>
        <p:txBody>
          <a:bodyPr wrap="square">
            <a:spAutoFit/>
          </a:bodyPr>
          <a:lstStyle/>
          <a:p>
            <a:pPr algn="ctr">
              <a:defRPr sz="1000" b="1" i="0">
                <a:solidFill>
                  <a:srgbClr val="1A1A1A"/>
                </a:solidFill>
                <a:latin typeface="Segoe UI"/>
              </a:defRPr>
            </a:pPr>
            <a:r>
              <a:t>Chunk into paragraphs</a:t>
            </a:r>
          </a:p>
        </p:txBody>
      </p:sp>
      <p:sp>
        <p:nvSpPr>
          <p:cNvPr id="29" name="TextBox 28"/>
          <p:cNvSpPr txBox="1"/>
          <p:nvPr/>
        </p:nvSpPr>
        <p:spPr>
          <a:xfrm>
            <a:off x="3758184" y="2633472"/>
            <a:ext cx="2002536" cy="292608"/>
          </a:xfrm>
          <a:prstGeom prst="rect">
            <a:avLst/>
          </a:prstGeom>
          <a:noFill/>
        </p:spPr>
        <p:txBody>
          <a:bodyPr wrap="square">
            <a:spAutoFit/>
          </a:bodyPr>
          <a:lstStyle/>
          <a:p>
            <a:pPr algn="ctr">
              <a:defRPr sz="800" b="0" i="0">
                <a:solidFill>
                  <a:srgbClr val="555555"/>
                </a:solidFill>
                <a:latin typeface="Segoe UI"/>
              </a:defRPr>
            </a:pPr>
            <a:r>
              <a:t>Split speech into</a:t>
            </a:r>
            <a:br/>
            <a:r>
              <a:t>paragraph-sized chunks</a:t>
            </a:r>
          </a:p>
        </p:txBody>
      </p:sp>
      <p:sp>
        <p:nvSpPr>
          <p:cNvPr id="30" name="TextBox 29"/>
          <p:cNvSpPr txBox="1"/>
          <p:nvPr/>
        </p:nvSpPr>
        <p:spPr>
          <a:xfrm>
            <a:off x="5833872" y="253746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31" name="Rounded Rectangle 30"/>
          <p:cNvSpPr/>
          <p:nvPr/>
        </p:nvSpPr>
        <p:spPr>
          <a:xfrm>
            <a:off x="6089904" y="228600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63056" y="2359152"/>
            <a:ext cx="2002536" cy="256032"/>
          </a:xfrm>
          <a:prstGeom prst="rect">
            <a:avLst/>
          </a:prstGeom>
          <a:noFill/>
        </p:spPr>
        <p:txBody>
          <a:bodyPr wrap="square">
            <a:spAutoFit/>
          </a:bodyPr>
          <a:lstStyle/>
          <a:p>
            <a:pPr algn="ctr">
              <a:defRPr sz="1000" b="1" i="0">
                <a:solidFill>
                  <a:srgbClr val="1A1A1A"/>
                </a:solidFill>
                <a:latin typeface="Segoe UI"/>
              </a:defRPr>
            </a:pPr>
            <a:r>
              <a:t>Embed</a:t>
            </a:r>
          </a:p>
        </p:txBody>
      </p:sp>
      <p:sp>
        <p:nvSpPr>
          <p:cNvPr id="33" name="TextBox 32"/>
          <p:cNvSpPr txBox="1"/>
          <p:nvPr/>
        </p:nvSpPr>
        <p:spPr>
          <a:xfrm>
            <a:off x="6163056" y="2633472"/>
            <a:ext cx="2002536" cy="292608"/>
          </a:xfrm>
          <a:prstGeom prst="rect">
            <a:avLst/>
          </a:prstGeom>
          <a:noFill/>
        </p:spPr>
        <p:txBody>
          <a:bodyPr wrap="square">
            <a:spAutoFit/>
          </a:bodyPr>
          <a:lstStyle/>
          <a:p>
            <a:pPr algn="ctr">
              <a:defRPr sz="800" b="0" i="0">
                <a:solidFill>
                  <a:srgbClr val="555555"/>
                </a:solidFill>
                <a:latin typeface="Segoe UI"/>
              </a:defRPr>
            </a:pPr>
            <a:r>
              <a:t>Azure OpenAI</a:t>
            </a:r>
            <a:br/>
            <a:r>
              <a:t>text-embedding-3-large</a:t>
            </a:r>
          </a:p>
        </p:txBody>
      </p:sp>
      <p:sp>
        <p:nvSpPr>
          <p:cNvPr id="34" name="TextBox 33"/>
          <p:cNvSpPr txBox="1"/>
          <p:nvPr/>
        </p:nvSpPr>
        <p:spPr>
          <a:xfrm>
            <a:off x="8238744" y="253746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35" name="Rounded Rectangle 34"/>
          <p:cNvSpPr/>
          <p:nvPr/>
        </p:nvSpPr>
        <p:spPr>
          <a:xfrm>
            <a:off x="8494776" y="228600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67928" y="2359152"/>
            <a:ext cx="2002536" cy="256032"/>
          </a:xfrm>
          <a:prstGeom prst="rect">
            <a:avLst/>
          </a:prstGeom>
          <a:noFill/>
        </p:spPr>
        <p:txBody>
          <a:bodyPr wrap="square">
            <a:spAutoFit/>
          </a:bodyPr>
          <a:lstStyle/>
          <a:p>
            <a:pPr algn="ctr">
              <a:defRPr sz="1000" b="1" i="0">
                <a:solidFill>
                  <a:srgbClr val="1A1A1A"/>
                </a:solidFill>
                <a:latin typeface="Segoe UI"/>
              </a:defRPr>
            </a:pPr>
            <a:r>
              <a:t>Store + Index</a:t>
            </a:r>
          </a:p>
        </p:txBody>
      </p:sp>
      <p:sp>
        <p:nvSpPr>
          <p:cNvPr id="37" name="TextBox 36"/>
          <p:cNvSpPr txBox="1"/>
          <p:nvPr/>
        </p:nvSpPr>
        <p:spPr>
          <a:xfrm>
            <a:off x="8567928" y="2633472"/>
            <a:ext cx="2002536" cy="292608"/>
          </a:xfrm>
          <a:prstGeom prst="rect">
            <a:avLst/>
          </a:prstGeom>
          <a:noFill/>
        </p:spPr>
        <p:txBody>
          <a:bodyPr wrap="square">
            <a:spAutoFit/>
          </a:bodyPr>
          <a:lstStyle/>
          <a:p>
            <a:pPr algn="ctr">
              <a:defRPr sz="800" b="0" i="0">
                <a:solidFill>
                  <a:srgbClr val="555555"/>
                </a:solidFill>
                <a:latin typeface="Segoe UI"/>
              </a:defRPr>
            </a:pPr>
            <a:r>
              <a:t>Cosmos DB (chunks)</a:t>
            </a:r>
            <a:br/>
            <a:r>
              <a:t>AI Search (vectors)</a:t>
            </a:r>
          </a:p>
        </p:txBody>
      </p:sp>
      <p:sp>
        <p:nvSpPr>
          <p:cNvPr id="38" name="TextBox 37"/>
          <p:cNvSpPr txBox="1"/>
          <p:nvPr/>
        </p:nvSpPr>
        <p:spPr>
          <a:xfrm>
            <a:off x="548640" y="3246120"/>
            <a:ext cx="2743200" cy="274320"/>
          </a:xfrm>
          <a:prstGeom prst="rect">
            <a:avLst/>
          </a:prstGeom>
          <a:noFill/>
        </p:spPr>
        <p:txBody>
          <a:bodyPr wrap="square">
            <a:spAutoFit/>
          </a:bodyPr>
          <a:lstStyle/>
          <a:p>
            <a:pPr algn="l">
              <a:defRPr sz="1200" b="1" i="0">
                <a:solidFill>
                  <a:srgbClr val="0A2463"/>
                </a:solidFill>
                <a:latin typeface="Segoe UI"/>
              </a:defRPr>
            </a:pPr>
            <a:r>
              <a:t>DATA OUT — Queries</a:t>
            </a:r>
          </a:p>
        </p:txBody>
      </p:sp>
      <p:sp>
        <p:nvSpPr>
          <p:cNvPr id="39" name="Rectangle 38"/>
          <p:cNvSpPr/>
          <p:nvPr/>
        </p:nvSpPr>
        <p:spPr>
          <a:xfrm>
            <a:off x="548640" y="3502152"/>
            <a:ext cx="11064240" cy="18288"/>
          </a:xfrm>
          <a:prstGeom prst="rect">
            <a:avLst/>
          </a:prstGeom>
          <a:solidFill>
            <a:srgbClr val="0A24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3749040"/>
            <a:ext cx="777240" cy="411480"/>
          </a:xfrm>
          <a:prstGeom prst="rect">
            <a:avLst/>
          </a:prstGeom>
          <a:noFill/>
        </p:spPr>
        <p:txBody>
          <a:bodyPr wrap="square">
            <a:spAutoFit/>
          </a:bodyPr>
          <a:lstStyle/>
          <a:p>
            <a:pPr algn="ctr">
              <a:defRPr sz="1000" b="1" i="0">
                <a:solidFill>
                  <a:srgbClr val="0078D4"/>
                </a:solidFill>
                <a:latin typeface="Segoe UI"/>
              </a:defRPr>
            </a:pPr>
            <a:r>
              <a:t>CLIPS</a:t>
            </a:r>
          </a:p>
        </p:txBody>
      </p:sp>
      <p:sp>
        <p:nvSpPr>
          <p:cNvPr id="41" name="Rounded Rectangle 40"/>
          <p:cNvSpPr/>
          <p:nvPr/>
        </p:nvSpPr>
        <p:spPr>
          <a:xfrm>
            <a:off x="1280160" y="361188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53312" y="3685032"/>
            <a:ext cx="2002536" cy="256032"/>
          </a:xfrm>
          <a:prstGeom prst="rect">
            <a:avLst/>
          </a:prstGeom>
          <a:noFill/>
        </p:spPr>
        <p:txBody>
          <a:bodyPr wrap="square">
            <a:spAutoFit/>
          </a:bodyPr>
          <a:lstStyle/>
          <a:p>
            <a:pPr algn="ctr">
              <a:defRPr sz="1000" b="1" i="0">
                <a:solidFill>
                  <a:srgbClr val="1A1A1A"/>
                </a:solidFill>
                <a:latin typeface="Segoe UI"/>
              </a:defRPr>
            </a:pPr>
            <a:r>
              <a:t>User asks question</a:t>
            </a:r>
          </a:p>
        </p:txBody>
      </p:sp>
      <p:sp>
        <p:nvSpPr>
          <p:cNvPr id="43" name="TextBox 42"/>
          <p:cNvSpPr txBox="1"/>
          <p:nvPr/>
        </p:nvSpPr>
        <p:spPr>
          <a:xfrm>
            <a:off x="1353312" y="3959352"/>
            <a:ext cx="2002536" cy="292608"/>
          </a:xfrm>
          <a:prstGeom prst="rect">
            <a:avLst/>
          </a:prstGeom>
          <a:noFill/>
        </p:spPr>
        <p:txBody>
          <a:bodyPr wrap="square">
            <a:spAutoFit/>
          </a:bodyPr>
          <a:lstStyle/>
          <a:p>
            <a:pPr algn="ctr">
              <a:defRPr sz="800" b="0" i="0">
                <a:solidFill>
                  <a:srgbClr val="555555"/>
                </a:solidFill>
                <a:latin typeface="Segoe UI"/>
              </a:defRPr>
            </a:pPr>
            <a:r>
              <a:t>Copilot Studio → APIM</a:t>
            </a:r>
            <a:br/>
            <a:r>
              <a:t>→ clips-query</a:t>
            </a:r>
          </a:p>
        </p:txBody>
      </p:sp>
      <p:sp>
        <p:nvSpPr>
          <p:cNvPr id="44" name="TextBox 43"/>
          <p:cNvSpPr txBox="1"/>
          <p:nvPr/>
        </p:nvSpPr>
        <p:spPr>
          <a:xfrm>
            <a:off x="3429000" y="386334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45" name="Rounded Rectangle 44"/>
          <p:cNvSpPr/>
          <p:nvPr/>
        </p:nvSpPr>
        <p:spPr>
          <a:xfrm>
            <a:off x="3685032" y="361188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58184" y="3685032"/>
            <a:ext cx="2002536" cy="256032"/>
          </a:xfrm>
          <a:prstGeom prst="rect">
            <a:avLst/>
          </a:prstGeom>
          <a:noFill/>
        </p:spPr>
        <p:txBody>
          <a:bodyPr wrap="square">
            <a:spAutoFit/>
          </a:bodyPr>
          <a:lstStyle/>
          <a:p>
            <a:pPr algn="ctr">
              <a:defRPr sz="1000" b="1" i="0">
                <a:solidFill>
                  <a:srgbClr val="1A1A1A"/>
                </a:solidFill>
                <a:latin typeface="Segoe UI"/>
              </a:defRPr>
            </a:pPr>
            <a:r>
              <a:t>AI Search</a:t>
            </a:r>
          </a:p>
        </p:txBody>
      </p:sp>
      <p:sp>
        <p:nvSpPr>
          <p:cNvPr id="47" name="TextBox 46"/>
          <p:cNvSpPr txBox="1"/>
          <p:nvPr/>
        </p:nvSpPr>
        <p:spPr>
          <a:xfrm>
            <a:off x="3758184" y="3959352"/>
            <a:ext cx="2002536" cy="292608"/>
          </a:xfrm>
          <a:prstGeom prst="rect">
            <a:avLst/>
          </a:prstGeom>
          <a:noFill/>
        </p:spPr>
        <p:txBody>
          <a:bodyPr wrap="square">
            <a:spAutoFit/>
          </a:bodyPr>
          <a:lstStyle/>
          <a:p>
            <a:pPr algn="ctr">
              <a:defRPr sz="800" b="0" i="0">
                <a:solidFill>
                  <a:srgbClr val="555555"/>
                </a:solidFill>
                <a:latin typeface="Segoe UI"/>
              </a:defRPr>
            </a:pPr>
            <a:r>
              <a:t>Hybrid vector + keyword</a:t>
            </a:r>
            <a:br/>
            <a:r>
              <a:t>semantic reranker</a:t>
            </a:r>
          </a:p>
        </p:txBody>
      </p:sp>
      <p:sp>
        <p:nvSpPr>
          <p:cNvPr id="48" name="TextBox 47"/>
          <p:cNvSpPr txBox="1"/>
          <p:nvPr/>
        </p:nvSpPr>
        <p:spPr>
          <a:xfrm>
            <a:off x="5833872" y="386334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49" name="Rounded Rectangle 48"/>
          <p:cNvSpPr/>
          <p:nvPr/>
        </p:nvSpPr>
        <p:spPr>
          <a:xfrm>
            <a:off x="6089904" y="361188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63056" y="3685032"/>
            <a:ext cx="2002536" cy="256032"/>
          </a:xfrm>
          <a:prstGeom prst="rect">
            <a:avLst/>
          </a:prstGeom>
          <a:noFill/>
        </p:spPr>
        <p:txBody>
          <a:bodyPr wrap="square">
            <a:spAutoFit/>
          </a:bodyPr>
          <a:lstStyle/>
          <a:p>
            <a:pPr algn="ctr">
              <a:defRPr sz="1000" b="1" i="0">
                <a:solidFill>
                  <a:srgbClr val="1A1A1A"/>
                </a:solidFill>
                <a:latin typeface="Segoe UI"/>
              </a:defRPr>
            </a:pPr>
            <a:r>
              <a:t>Return results</a:t>
            </a:r>
          </a:p>
        </p:txBody>
      </p:sp>
      <p:sp>
        <p:nvSpPr>
          <p:cNvPr id="51" name="TextBox 50"/>
          <p:cNvSpPr txBox="1"/>
          <p:nvPr/>
        </p:nvSpPr>
        <p:spPr>
          <a:xfrm>
            <a:off x="6163056" y="3959352"/>
            <a:ext cx="2002536" cy="292608"/>
          </a:xfrm>
          <a:prstGeom prst="rect">
            <a:avLst/>
          </a:prstGeom>
          <a:noFill/>
        </p:spPr>
        <p:txBody>
          <a:bodyPr wrap="square">
            <a:spAutoFit/>
          </a:bodyPr>
          <a:lstStyle/>
          <a:p>
            <a:pPr algn="ctr">
              <a:defRPr sz="800" b="0" i="0">
                <a:solidFill>
                  <a:srgbClr val="555555"/>
                </a:solidFill>
                <a:latin typeface="Segoe UI"/>
              </a:defRPr>
            </a:pPr>
            <a:r>
              <a:t>Matching clips with</a:t>
            </a:r>
            <a:br/>
            <a:r>
              <a:t>title, date, outlet</a:t>
            </a:r>
          </a:p>
        </p:txBody>
      </p:sp>
      <p:sp>
        <p:nvSpPr>
          <p:cNvPr id="52" name="TextBox 51"/>
          <p:cNvSpPr txBox="1"/>
          <p:nvPr/>
        </p:nvSpPr>
        <p:spPr>
          <a:xfrm>
            <a:off x="8238744" y="386334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53" name="Rounded Rectangle 52"/>
          <p:cNvSpPr/>
          <p:nvPr/>
        </p:nvSpPr>
        <p:spPr>
          <a:xfrm>
            <a:off x="8494776" y="3611880"/>
            <a:ext cx="2148840" cy="68580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67928" y="3685032"/>
            <a:ext cx="2002536" cy="256032"/>
          </a:xfrm>
          <a:prstGeom prst="rect">
            <a:avLst/>
          </a:prstGeom>
          <a:noFill/>
        </p:spPr>
        <p:txBody>
          <a:bodyPr wrap="square">
            <a:spAutoFit/>
          </a:bodyPr>
          <a:lstStyle/>
          <a:p>
            <a:pPr algn="ctr">
              <a:defRPr sz="1000" b="1" i="0">
                <a:solidFill>
                  <a:srgbClr val="FFFFFF"/>
                </a:solidFill>
                <a:latin typeface="Segoe UI"/>
              </a:defRPr>
            </a:pPr>
            <a:r>
              <a:t>Display in Teams</a:t>
            </a:r>
          </a:p>
        </p:txBody>
      </p:sp>
      <p:sp>
        <p:nvSpPr>
          <p:cNvPr id="55" name="TextBox 54"/>
          <p:cNvSpPr txBox="1"/>
          <p:nvPr/>
        </p:nvSpPr>
        <p:spPr>
          <a:xfrm>
            <a:off x="8567928" y="3959352"/>
            <a:ext cx="2002536" cy="292608"/>
          </a:xfrm>
          <a:prstGeom prst="rect">
            <a:avLst/>
          </a:prstGeom>
          <a:noFill/>
        </p:spPr>
        <p:txBody>
          <a:bodyPr wrap="square">
            <a:spAutoFit/>
          </a:bodyPr>
          <a:lstStyle/>
          <a:p>
            <a:pPr algn="ctr">
              <a:defRPr sz="800" b="0" i="0">
                <a:solidFill>
                  <a:srgbClr val="EEEEEE"/>
                </a:solidFill>
                <a:latin typeface="Segoe UI"/>
              </a:defRPr>
            </a:pPr>
            <a:r>
              <a:t>Agent formats clips</a:t>
            </a:r>
            <a:br/>
            <a:r>
              <a:t>for the user</a:t>
            </a:r>
          </a:p>
        </p:txBody>
      </p:sp>
      <p:sp>
        <p:nvSpPr>
          <p:cNvPr id="56" name="TextBox 55"/>
          <p:cNvSpPr txBox="1"/>
          <p:nvPr/>
        </p:nvSpPr>
        <p:spPr>
          <a:xfrm>
            <a:off x="411480" y="4617720"/>
            <a:ext cx="777240" cy="411480"/>
          </a:xfrm>
          <a:prstGeom prst="rect">
            <a:avLst/>
          </a:prstGeom>
          <a:noFill/>
        </p:spPr>
        <p:txBody>
          <a:bodyPr wrap="square">
            <a:spAutoFit/>
          </a:bodyPr>
          <a:lstStyle/>
          <a:p>
            <a:pPr algn="ctr">
              <a:defRPr sz="1000" b="1" i="0">
                <a:solidFill>
                  <a:srgbClr val="107C10"/>
                </a:solidFill>
                <a:latin typeface="Segoe UI"/>
              </a:defRPr>
            </a:pPr>
            <a:r>
              <a:t>REMARKS</a:t>
            </a:r>
          </a:p>
        </p:txBody>
      </p:sp>
      <p:sp>
        <p:nvSpPr>
          <p:cNvPr id="57" name="Rounded Rectangle 56"/>
          <p:cNvSpPr/>
          <p:nvPr/>
        </p:nvSpPr>
        <p:spPr>
          <a:xfrm>
            <a:off x="1280160" y="448056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353312" y="4553712"/>
            <a:ext cx="2002536" cy="256032"/>
          </a:xfrm>
          <a:prstGeom prst="rect">
            <a:avLst/>
          </a:prstGeom>
          <a:noFill/>
        </p:spPr>
        <p:txBody>
          <a:bodyPr wrap="square">
            <a:spAutoFit/>
          </a:bodyPr>
          <a:lstStyle/>
          <a:p>
            <a:pPr algn="ctr">
              <a:defRPr sz="1000" b="1" i="0">
                <a:solidFill>
                  <a:srgbClr val="1A1A1A"/>
                </a:solidFill>
                <a:latin typeface="Segoe UI"/>
              </a:defRPr>
            </a:pPr>
            <a:r>
              <a:t>User asks question</a:t>
            </a:r>
          </a:p>
        </p:txBody>
      </p:sp>
      <p:sp>
        <p:nvSpPr>
          <p:cNvPr id="59" name="TextBox 58"/>
          <p:cNvSpPr txBox="1"/>
          <p:nvPr/>
        </p:nvSpPr>
        <p:spPr>
          <a:xfrm>
            <a:off x="1353312" y="4828032"/>
            <a:ext cx="2002536" cy="292608"/>
          </a:xfrm>
          <a:prstGeom prst="rect">
            <a:avLst/>
          </a:prstGeom>
          <a:noFill/>
        </p:spPr>
        <p:txBody>
          <a:bodyPr wrap="square">
            <a:spAutoFit/>
          </a:bodyPr>
          <a:lstStyle/>
          <a:p>
            <a:pPr algn="ctr">
              <a:defRPr sz="800" b="0" i="0">
                <a:solidFill>
                  <a:srgbClr val="555555"/>
                </a:solidFill>
                <a:latin typeface="Segoe UI"/>
              </a:defRPr>
            </a:pPr>
            <a:r>
              <a:t>Copilot Studio → APIM</a:t>
            </a:r>
            <a:br/>
            <a:r>
              <a:t>→ remarks-query</a:t>
            </a:r>
          </a:p>
        </p:txBody>
      </p:sp>
      <p:sp>
        <p:nvSpPr>
          <p:cNvPr id="60" name="TextBox 59"/>
          <p:cNvSpPr txBox="1"/>
          <p:nvPr/>
        </p:nvSpPr>
        <p:spPr>
          <a:xfrm>
            <a:off x="3429000" y="473202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61" name="Rounded Rectangle 60"/>
          <p:cNvSpPr/>
          <p:nvPr/>
        </p:nvSpPr>
        <p:spPr>
          <a:xfrm>
            <a:off x="3685032" y="448056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758184" y="4553712"/>
            <a:ext cx="2002536" cy="256032"/>
          </a:xfrm>
          <a:prstGeom prst="rect">
            <a:avLst/>
          </a:prstGeom>
          <a:noFill/>
        </p:spPr>
        <p:txBody>
          <a:bodyPr wrap="square">
            <a:spAutoFit/>
          </a:bodyPr>
          <a:lstStyle/>
          <a:p>
            <a:pPr algn="ctr">
              <a:defRPr sz="1000" b="1" i="0">
                <a:solidFill>
                  <a:srgbClr val="1A1A1A"/>
                </a:solidFill>
                <a:latin typeface="Segoe UI"/>
              </a:defRPr>
            </a:pPr>
            <a:r>
              <a:t>AI Search</a:t>
            </a:r>
          </a:p>
        </p:txBody>
      </p:sp>
      <p:sp>
        <p:nvSpPr>
          <p:cNvPr id="63" name="TextBox 62"/>
          <p:cNvSpPr txBox="1"/>
          <p:nvPr/>
        </p:nvSpPr>
        <p:spPr>
          <a:xfrm>
            <a:off x="3758184" y="4828032"/>
            <a:ext cx="2002536" cy="292608"/>
          </a:xfrm>
          <a:prstGeom prst="rect">
            <a:avLst/>
          </a:prstGeom>
          <a:noFill/>
        </p:spPr>
        <p:txBody>
          <a:bodyPr wrap="square">
            <a:spAutoFit/>
          </a:bodyPr>
          <a:lstStyle/>
          <a:p>
            <a:pPr algn="ctr">
              <a:defRPr sz="800" b="0" i="0">
                <a:solidFill>
                  <a:srgbClr val="555555"/>
                </a:solidFill>
                <a:latin typeface="Segoe UI"/>
              </a:defRPr>
            </a:pPr>
            <a:r>
              <a:t>Retrieve top matching</a:t>
            </a:r>
            <a:br/>
            <a:r>
              <a:t>chunks from speeches</a:t>
            </a:r>
          </a:p>
        </p:txBody>
      </p:sp>
      <p:sp>
        <p:nvSpPr>
          <p:cNvPr id="64" name="TextBox 63"/>
          <p:cNvSpPr txBox="1"/>
          <p:nvPr/>
        </p:nvSpPr>
        <p:spPr>
          <a:xfrm>
            <a:off x="5833872" y="473202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65" name="Rounded Rectangle 64"/>
          <p:cNvSpPr/>
          <p:nvPr/>
        </p:nvSpPr>
        <p:spPr>
          <a:xfrm>
            <a:off x="6089904" y="448056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63056" y="4553712"/>
            <a:ext cx="2002536" cy="256032"/>
          </a:xfrm>
          <a:prstGeom prst="rect">
            <a:avLst/>
          </a:prstGeom>
          <a:noFill/>
        </p:spPr>
        <p:txBody>
          <a:bodyPr wrap="square">
            <a:spAutoFit/>
          </a:bodyPr>
          <a:lstStyle/>
          <a:p>
            <a:pPr algn="ctr">
              <a:defRPr sz="1000" b="1" i="0">
                <a:solidFill>
                  <a:srgbClr val="1A1A1A"/>
                </a:solidFill>
                <a:latin typeface="Segoe UI"/>
              </a:defRPr>
            </a:pPr>
            <a:r>
              <a:t>GPT-4o synthesizes</a:t>
            </a:r>
          </a:p>
        </p:txBody>
      </p:sp>
      <p:sp>
        <p:nvSpPr>
          <p:cNvPr id="67" name="TextBox 66"/>
          <p:cNvSpPr txBox="1"/>
          <p:nvPr/>
        </p:nvSpPr>
        <p:spPr>
          <a:xfrm>
            <a:off x="6163056" y="4828032"/>
            <a:ext cx="2002536" cy="292608"/>
          </a:xfrm>
          <a:prstGeom prst="rect">
            <a:avLst/>
          </a:prstGeom>
          <a:noFill/>
        </p:spPr>
        <p:txBody>
          <a:bodyPr wrap="square">
            <a:spAutoFit/>
          </a:bodyPr>
          <a:lstStyle/>
          <a:p>
            <a:pPr algn="ctr">
              <a:defRPr sz="800" b="0" i="0">
                <a:solidFill>
                  <a:srgbClr val="555555"/>
                </a:solidFill>
                <a:latin typeface="Segoe UI"/>
              </a:defRPr>
            </a:pPr>
            <a:r>
              <a:t>Write summary with</a:t>
            </a:r>
            <a:br/>
            <a:r>
              <a:t>direct quotes + sources</a:t>
            </a:r>
          </a:p>
        </p:txBody>
      </p:sp>
      <p:sp>
        <p:nvSpPr>
          <p:cNvPr id="68" name="TextBox 67"/>
          <p:cNvSpPr txBox="1"/>
          <p:nvPr/>
        </p:nvSpPr>
        <p:spPr>
          <a:xfrm>
            <a:off x="8238744" y="473202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69" name="Rounded Rectangle 68"/>
          <p:cNvSpPr/>
          <p:nvPr/>
        </p:nvSpPr>
        <p:spPr>
          <a:xfrm>
            <a:off x="8494776" y="4480560"/>
            <a:ext cx="2148840" cy="68580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567928" y="4553712"/>
            <a:ext cx="2002536" cy="256032"/>
          </a:xfrm>
          <a:prstGeom prst="rect">
            <a:avLst/>
          </a:prstGeom>
          <a:noFill/>
        </p:spPr>
        <p:txBody>
          <a:bodyPr wrap="square">
            <a:spAutoFit/>
          </a:bodyPr>
          <a:lstStyle/>
          <a:p>
            <a:pPr algn="ctr">
              <a:defRPr sz="1000" b="1" i="0">
                <a:solidFill>
                  <a:srgbClr val="FFFFFF"/>
                </a:solidFill>
                <a:latin typeface="Segoe UI"/>
              </a:defRPr>
            </a:pPr>
            <a:r>
              <a:t>Display in Teams</a:t>
            </a:r>
          </a:p>
        </p:txBody>
      </p:sp>
      <p:sp>
        <p:nvSpPr>
          <p:cNvPr id="71" name="TextBox 70"/>
          <p:cNvSpPr txBox="1"/>
          <p:nvPr/>
        </p:nvSpPr>
        <p:spPr>
          <a:xfrm>
            <a:off x="8567928" y="4828032"/>
            <a:ext cx="2002536" cy="292608"/>
          </a:xfrm>
          <a:prstGeom prst="rect">
            <a:avLst/>
          </a:prstGeom>
          <a:noFill/>
        </p:spPr>
        <p:txBody>
          <a:bodyPr wrap="square">
            <a:spAutoFit/>
          </a:bodyPr>
          <a:lstStyle/>
          <a:p>
            <a:pPr algn="ctr">
              <a:defRPr sz="800" b="0" i="0">
                <a:solidFill>
                  <a:srgbClr val="EEEEEE"/>
                </a:solidFill>
                <a:latin typeface="Segoe UI"/>
              </a:defRPr>
            </a:pPr>
            <a:r>
              <a:t>Agent shows synthesis</a:t>
            </a:r>
            <a:br/>
            <a:r>
              <a:t>with citations</a:t>
            </a:r>
          </a:p>
        </p:txBody>
      </p:sp>
      <p:sp>
        <p:nvSpPr>
          <p:cNvPr id="72" name="TextBox 71"/>
          <p:cNvSpPr txBox="1"/>
          <p:nvPr/>
        </p:nvSpPr>
        <p:spPr>
          <a:xfrm>
            <a:off x="411480" y="5486400"/>
            <a:ext cx="777240" cy="411480"/>
          </a:xfrm>
          <a:prstGeom prst="rect">
            <a:avLst/>
          </a:prstGeom>
          <a:noFill/>
        </p:spPr>
        <p:txBody>
          <a:bodyPr wrap="square">
            <a:spAutoFit/>
          </a:bodyPr>
          <a:lstStyle/>
          <a:p>
            <a:pPr algn="ctr">
              <a:defRPr sz="1000" b="1" i="0">
                <a:solidFill>
                  <a:srgbClr val="D83B01"/>
                </a:solidFill>
                <a:latin typeface="Segoe UI"/>
              </a:defRPr>
            </a:pPr>
            <a:r>
              <a:t>PROOFREAD</a:t>
            </a:r>
          </a:p>
        </p:txBody>
      </p:sp>
      <p:sp>
        <p:nvSpPr>
          <p:cNvPr id="73" name="Rounded Rectangle 72"/>
          <p:cNvSpPr/>
          <p:nvPr/>
        </p:nvSpPr>
        <p:spPr>
          <a:xfrm>
            <a:off x="1280160" y="534924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353312" y="5422392"/>
            <a:ext cx="2002536" cy="256032"/>
          </a:xfrm>
          <a:prstGeom prst="rect">
            <a:avLst/>
          </a:prstGeom>
          <a:noFill/>
        </p:spPr>
        <p:txBody>
          <a:bodyPr wrap="square">
            <a:spAutoFit/>
          </a:bodyPr>
          <a:lstStyle/>
          <a:p>
            <a:pPr algn="ctr">
              <a:defRPr sz="1000" b="1" i="0">
                <a:solidFill>
                  <a:srgbClr val="1A1A1A"/>
                </a:solidFill>
                <a:latin typeface="Segoe UI"/>
              </a:defRPr>
            </a:pPr>
            <a:r>
              <a:t>User pastes text</a:t>
            </a:r>
          </a:p>
        </p:txBody>
      </p:sp>
      <p:sp>
        <p:nvSpPr>
          <p:cNvPr id="75" name="TextBox 74"/>
          <p:cNvSpPr txBox="1"/>
          <p:nvPr/>
        </p:nvSpPr>
        <p:spPr>
          <a:xfrm>
            <a:off x="1353312" y="5696712"/>
            <a:ext cx="2002536" cy="292608"/>
          </a:xfrm>
          <a:prstGeom prst="rect">
            <a:avLst/>
          </a:prstGeom>
          <a:noFill/>
        </p:spPr>
        <p:txBody>
          <a:bodyPr wrap="square">
            <a:spAutoFit/>
          </a:bodyPr>
          <a:lstStyle/>
          <a:p>
            <a:pPr algn="ctr">
              <a:defRPr sz="800" b="0" i="0">
                <a:solidFill>
                  <a:srgbClr val="555555"/>
                </a:solidFill>
                <a:latin typeface="Segoe UI"/>
              </a:defRPr>
            </a:pPr>
            <a:r>
              <a:t>Copilot Studio → APIM</a:t>
            </a:r>
            <a:br/>
            <a:r>
              <a:t>→ proofread</a:t>
            </a:r>
          </a:p>
        </p:txBody>
      </p:sp>
      <p:sp>
        <p:nvSpPr>
          <p:cNvPr id="76" name="TextBox 75"/>
          <p:cNvSpPr txBox="1"/>
          <p:nvPr/>
        </p:nvSpPr>
        <p:spPr>
          <a:xfrm>
            <a:off x="3429000" y="560070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77" name="Rounded Rectangle 76"/>
          <p:cNvSpPr/>
          <p:nvPr/>
        </p:nvSpPr>
        <p:spPr>
          <a:xfrm>
            <a:off x="3685032" y="534924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758184" y="5422392"/>
            <a:ext cx="2002536" cy="256032"/>
          </a:xfrm>
          <a:prstGeom prst="rect">
            <a:avLst/>
          </a:prstGeom>
          <a:noFill/>
        </p:spPr>
        <p:txBody>
          <a:bodyPr wrap="square">
            <a:spAutoFit/>
          </a:bodyPr>
          <a:lstStyle/>
          <a:p>
            <a:pPr algn="ctr">
              <a:defRPr sz="1000" b="1" i="0">
                <a:solidFill>
                  <a:srgbClr val="1A1A1A"/>
                </a:solidFill>
                <a:latin typeface="Segoe UI"/>
              </a:defRPr>
            </a:pPr>
            <a:r>
              <a:t>GPT-4o proofreads</a:t>
            </a:r>
          </a:p>
        </p:txBody>
      </p:sp>
      <p:sp>
        <p:nvSpPr>
          <p:cNvPr id="79" name="TextBox 78"/>
          <p:cNvSpPr txBox="1"/>
          <p:nvPr/>
        </p:nvSpPr>
        <p:spPr>
          <a:xfrm>
            <a:off x="3758184" y="5696712"/>
            <a:ext cx="2002536" cy="292608"/>
          </a:xfrm>
          <a:prstGeom prst="rect">
            <a:avLst/>
          </a:prstGeom>
          <a:noFill/>
        </p:spPr>
        <p:txBody>
          <a:bodyPr wrap="square">
            <a:spAutoFit/>
          </a:bodyPr>
          <a:lstStyle/>
          <a:p>
            <a:pPr algn="ctr">
              <a:defRPr sz="800" b="0" i="0">
                <a:solidFill>
                  <a:srgbClr val="555555"/>
                </a:solidFill>
                <a:latin typeface="Segoe UI"/>
              </a:defRPr>
            </a:pPr>
            <a:r>
              <a:t>Fix errors, preserve</a:t>
            </a:r>
            <a:br/>
            <a:r>
              <a:t>speaking style</a:t>
            </a:r>
          </a:p>
        </p:txBody>
      </p:sp>
      <p:sp>
        <p:nvSpPr>
          <p:cNvPr id="80" name="TextBox 79"/>
          <p:cNvSpPr txBox="1"/>
          <p:nvPr/>
        </p:nvSpPr>
        <p:spPr>
          <a:xfrm>
            <a:off x="5833872" y="560070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81" name="Rounded Rectangle 80"/>
          <p:cNvSpPr/>
          <p:nvPr/>
        </p:nvSpPr>
        <p:spPr>
          <a:xfrm>
            <a:off x="6089904" y="5349240"/>
            <a:ext cx="2148840" cy="6858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163056" y="5422392"/>
            <a:ext cx="2002536" cy="256032"/>
          </a:xfrm>
          <a:prstGeom prst="rect">
            <a:avLst/>
          </a:prstGeom>
          <a:noFill/>
        </p:spPr>
        <p:txBody>
          <a:bodyPr wrap="square">
            <a:spAutoFit/>
          </a:bodyPr>
          <a:lstStyle/>
          <a:p>
            <a:pPr algn="ctr">
              <a:defRPr sz="1000" b="1" i="0">
                <a:solidFill>
                  <a:srgbClr val="1A1A1A"/>
                </a:solidFill>
                <a:latin typeface="Segoe UI"/>
              </a:defRPr>
            </a:pPr>
            <a:r>
              <a:t>Return corrections</a:t>
            </a:r>
          </a:p>
        </p:txBody>
      </p:sp>
      <p:sp>
        <p:nvSpPr>
          <p:cNvPr id="83" name="TextBox 82"/>
          <p:cNvSpPr txBox="1"/>
          <p:nvPr/>
        </p:nvSpPr>
        <p:spPr>
          <a:xfrm>
            <a:off x="6163056" y="5696712"/>
            <a:ext cx="2002536" cy="292608"/>
          </a:xfrm>
          <a:prstGeom prst="rect">
            <a:avLst/>
          </a:prstGeom>
          <a:noFill/>
        </p:spPr>
        <p:txBody>
          <a:bodyPr wrap="square">
            <a:spAutoFit/>
          </a:bodyPr>
          <a:lstStyle/>
          <a:p>
            <a:pPr algn="ctr">
              <a:defRPr sz="800" b="0" i="0">
                <a:solidFill>
                  <a:srgbClr val="555555"/>
                </a:solidFill>
                <a:latin typeface="Segoe UI"/>
              </a:defRPr>
            </a:pPr>
            <a:r>
              <a:t>Clean text + change list</a:t>
            </a:r>
            <a:br/>
            <a:r>
              <a:t>with confidence levels</a:t>
            </a:r>
          </a:p>
        </p:txBody>
      </p:sp>
      <p:sp>
        <p:nvSpPr>
          <p:cNvPr id="84" name="TextBox 83"/>
          <p:cNvSpPr txBox="1"/>
          <p:nvPr/>
        </p:nvSpPr>
        <p:spPr>
          <a:xfrm>
            <a:off x="8238744" y="5600700"/>
            <a:ext cx="256032" cy="182880"/>
          </a:xfrm>
          <a:prstGeom prst="rect">
            <a:avLst/>
          </a:prstGeom>
          <a:noFill/>
        </p:spPr>
        <p:txBody>
          <a:bodyPr wrap="square">
            <a:spAutoFit/>
          </a:bodyPr>
          <a:lstStyle/>
          <a:p>
            <a:pPr algn="ctr">
              <a:defRPr sz="1600" b="0" i="0">
                <a:solidFill>
                  <a:srgbClr val="BBBBBB"/>
                </a:solidFill>
                <a:latin typeface="Segoe UI"/>
              </a:defRPr>
            </a:pPr>
            <a:r>
              <a:t>→</a:t>
            </a:r>
          </a:p>
        </p:txBody>
      </p:sp>
      <p:sp>
        <p:nvSpPr>
          <p:cNvPr id="85" name="Rounded Rectangle 84"/>
          <p:cNvSpPr/>
          <p:nvPr/>
        </p:nvSpPr>
        <p:spPr>
          <a:xfrm>
            <a:off x="8494776" y="5349240"/>
            <a:ext cx="2148840" cy="685800"/>
          </a:xfrm>
          <a:prstGeom prst="roundRect">
            <a:avLst>
              <a:gd name="adj" fmla="val 5000"/>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567928" y="5422392"/>
            <a:ext cx="2002536" cy="256032"/>
          </a:xfrm>
          <a:prstGeom prst="rect">
            <a:avLst/>
          </a:prstGeom>
          <a:noFill/>
        </p:spPr>
        <p:txBody>
          <a:bodyPr wrap="square">
            <a:spAutoFit/>
          </a:bodyPr>
          <a:lstStyle/>
          <a:p>
            <a:pPr algn="ctr">
              <a:defRPr sz="1000" b="1" i="0">
                <a:solidFill>
                  <a:srgbClr val="FFFFFF"/>
                </a:solidFill>
                <a:latin typeface="Segoe UI"/>
              </a:defRPr>
            </a:pPr>
            <a:r>
              <a:t>Display in Teams</a:t>
            </a:r>
          </a:p>
        </p:txBody>
      </p:sp>
      <p:sp>
        <p:nvSpPr>
          <p:cNvPr id="87" name="TextBox 86"/>
          <p:cNvSpPr txBox="1"/>
          <p:nvPr/>
        </p:nvSpPr>
        <p:spPr>
          <a:xfrm>
            <a:off x="8567928" y="5696712"/>
            <a:ext cx="2002536" cy="292608"/>
          </a:xfrm>
          <a:prstGeom prst="rect">
            <a:avLst/>
          </a:prstGeom>
          <a:noFill/>
        </p:spPr>
        <p:txBody>
          <a:bodyPr wrap="square">
            <a:spAutoFit/>
          </a:bodyPr>
          <a:lstStyle/>
          <a:p>
            <a:pPr algn="ctr">
              <a:defRPr sz="800" b="0" i="0">
                <a:solidFill>
                  <a:srgbClr val="EEEEEE"/>
                </a:solidFill>
                <a:latin typeface="Segoe UI"/>
              </a:defRPr>
            </a:pPr>
            <a:r>
              <a:t>Agent shows corrected</a:t>
            </a:r>
            <a:br/>
            <a:r>
              <a:t>text + all changes</a:t>
            </a:r>
          </a:p>
        </p:txBody>
      </p:sp>
      <p:sp>
        <p:nvSpPr>
          <p:cNvPr id="88" name="TextBox 87"/>
          <p:cNvSpPr txBox="1"/>
          <p:nvPr/>
        </p:nvSpPr>
        <p:spPr>
          <a:xfrm>
            <a:off x="548640" y="6446520"/>
            <a:ext cx="4572000" cy="274320"/>
          </a:xfrm>
          <a:prstGeom prst="rect">
            <a:avLst/>
          </a:prstGeom>
          <a:noFill/>
        </p:spPr>
        <p:txBody>
          <a:bodyPr wrap="square">
            <a:spAutoFit/>
          </a:bodyPr>
          <a:lstStyle/>
          <a:p>
            <a:pPr algn="l">
              <a:defRPr sz="900" b="0" i="0">
                <a:solidFill>
                  <a:srgbClr val="BBBBBB"/>
                </a:solidFill>
                <a:latin typeface="Segoe UI"/>
              </a:defRPr>
            </a:pPr>
            <a:r>
              <a:t>NC DIT AI Office</a:t>
            </a:r>
          </a:p>
        </p:txBody>
      </p:sp>
      <p:sp>
        <p:nvSpPr>
          <p:cNvPr id="89" name="TextBox 88"/>
          <p:cNvSpPr txBox="1"/>
          <p:nvPr/>
        </p:nvSpPr>
        <p:spPr>
          <a:xfrm>
            <a:off x="6858000" y="6446520"/>
            <a:ext cx="4572000" cy="274320"/>
          </a:xfrm>
          <a:prstGeom prst="rect">
            <a:avLst/>
          </a:prstGeom>
          <a:noFill/>
        </p:spPr>
        <p:txBody>
          <a:bodyPr wrap="square">
            <a:spAutoFit/>
          </a:bodyPr>
          <a:lstStyle/>
          <a:p>
            <a:pPr algn="r">
              <a:defRPr sz="900" b="0" i="0">
                <a:solidFill>
                  <a:srgbClr val="BBBBBB"/>
                </a:solidFill>
                <a:latin typeface="Segoe UI"/>
              </a:defRPr>
            </a:pPr>
            <a:r>
              <a:t>9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